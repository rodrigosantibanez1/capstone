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YGbzRzUi8DJB5wy8qZOo9lrNy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14A085"/>
          </a:solidFill>
          <a:ln cap="flat" cmpd="sng" w="12700">
            <a:solidFill>
              <a:srgbClr val="14A0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228600" y="109728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ETH-MAS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28600" y="187452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Ethical Hacking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Multi-Agent System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28600" y="42976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AC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AACC8"/>
                </a:solidFill>
                <a:latin typeface="Calibri"/>
                <a:ea typeface="Calibri"/>
                <a:cs typeface="Calibri"/>
                <a:sym typeface="Calibri"/>
              </a:rPr>
              <a:t>PTY4614 Capstone — 202</a:t>
            </a:r>
            <a:r>
              <a:rPr lang="en-US" sz="1100">
                <a:solidFill>
                  <a:srgbClr val="7AACC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840480" y="822960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Definición del Proyecto APT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840480" y="1371600"/>
            <a:ext cx="5029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Sistema Multi-Agente para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Ethical Hacking Asistido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840480" y="3108960"/>
            <a:ext cx="1417320" cy="329184"/>
          </a:xfrm>
          <a:prstGeom prst="roundRect">
            <a:avLst>
              <a:gd fmla="val 27778" name="adj"/>
            </a:avLst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3840480" y="310896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IA Multi-Agente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440680" y="3108960"/>
            <a:ext cx="1417320" cy="329184"/>
          </a:xfrm>
          <a:prstGeom prst="roundRect">
            <a:avLst>
              <a:gd fmla="val 27778" name="adj"/>
            </a:avLst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5440680" y="310896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MITRE ATT&amp;CK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040880" y="3108960"/>
            <a:ext cx="1417320" cy="329184"/>
          </a:xfrm>
          <a:prstGeom prst="roundRect">
            <a:avLst>
              <a:gd fmla="val 27778" name="adj"/>
            </a:avLst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7040880" y="310896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Ciberseguridad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840480" y="42976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Escuela de Ingeniería Informática  ·  Santiago, Chile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¿En qué consiste ETH-MAS?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8046720" y="0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65760" y="868680"/>
            <a:ext cx="8412480" cy="100584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02920" y="914400"/>
            <a:ext cx="8138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Sistema multi-agente que automatiza las fases de reconocimiento, escaneo y análisis del ciclo de ethical hacking, mapeando hallazgos a la matriz MITRE ATT&amp;CK Enterprise y generando reportes priorizados en entornos de laboratorio controlado.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65760" y="2057400"/>
            <a:ext cx="269748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65760" y="2057400"/>
            <a:ext cx="2697480" cy="73152"/>
          </a:xfrm>
          <a:prstGeom prst="rect">
            <a:avLst/>
          </a:prstGeom>
          <a:solidFill>
            <a:srgbClr val="14A085"/>
          </a:solidFill>
          <a:ln cap="flat" cmpd="sng" w="12700">
            <a:solidFill>
              <a:srgbClr val="14A0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75488" y="214884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Arquitectura Multi-Agente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75488" y="2697480"/>
            <a:ext cx="2468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 agentes especializados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(MissionController, ReconAgent,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ScanAgent, AnalysisAgent,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ReporterAgent) coordinados por LLM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200400" y="2057400"/>
            <a:ext cx="269748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3200400" y="2057400"/>
            <a:ext cx="2697480" cy="73152"/>
          </a:xfrm>
          <a:prstGeom prst="rect">
            <a:avLst/>
          </a:prstGeom>
          <a:solidFill>
            <a:srgbClr val="14A085"/>
          </a:solidFill>
          <a:ln cap="flat" cmpd="sng" w="12700">
            <a:solidFill>
              <a:srgbClr val="14A0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3310128" y="214884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MCP como estándar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310128" y="2697480"/>
            <a:ext cx="2468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Model Context Protocol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para comunicación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agente-herramienta: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composabilidad y extensibilidad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035040" y="2057400"/>
            <a:ext cx="269748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6035040" y="2057400"/>
            <a:ext cx="2697480" cy="73152"/>
          </a:xfrm>
          <a:prstGeom prst="rect">
            <a:avLst/>
          </a:prstGeom>
          <a:solidFill>
            <a:srgbClr val="14A085"/>
          </a:solidFill>
          <a:ln cap="flat" cmpd="sng" w="12700">
            <a:solidFill>
              <a:srgbClr val="14A0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6144768" y="214884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MITRE ATT&amp;CK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144768" y="2697480"/>
            <a:ext cx="2468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Marco de referencia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para clasificar tácticas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 técnicas adversarias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(T1590, T1046, T1190...)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Relevancia: Reduce el análisis manual, aumenta cobertura y consistencia en equipos de seguridad.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Problema e Intereses Profesionales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8046720" y="0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65760" y="8686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PROBLEMAS QUE RESUELVE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65760" y="1325880"/>
            <a:ext cx="4114800" cy="105156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365760" y="1325880"/>
            <a:ext cx="502920" cy="105156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365760" y="1325880"/>
            <a:ext cx="5029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960120" y="1399032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Fragmentación de resultados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960120" y="1709928"/>
            <a:ext cx="3429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Herramientas como Nmap, Nuclei y Nikto generan outputs dispersos que requieren horas de análisis manual experto.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65760" y="2496312"/>
            <a:ext cx="4114800" cy="105156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365760" y="2496312"/>
            <a:ext cx="502920" cy="105156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365760" y="2496312"/>
            <a:ext cx="5029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960120" y="2569464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Sin mapeo a ATT&amp;CK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960120" y="2880360"/>
            <a:ext cx="3429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mayoría de herramientas no asocian hallazgos a tácticas/técnicas MITRE, dificultando la comunicación del riesgo real.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65760" y="3666744"/>
            <a:ext cx="4114800" cy="105156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365760" y="3666744"/>
            <a:ext cx="502920" cy="105156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365760" y="3666744"/>
            <a:ext cx="5029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960120" y="3739896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Variabilidad en reportes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960120" y="4050792"/>
            <a:ext cx="3429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calidad del reporte depende del nivel del profesional, generando inconsistencia en la entrega al cliente.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663440" y="868680"/>
            <a:ext cx="4114800" cy="393192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4663440" y="868680"/>
            <a:ext cx="4114800" cy="73152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4800600" y="97840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INTERESES PROFESIONALES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800600" y="141732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🔐  Ciberseguridad Ofensiva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800600" y="1755648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Pentesting, MITRE ATT&amp;CK, PTES, OWASP.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Roles: red team, analista de vulnerabilidades.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800600" y="2423160"/>
            <a:ext cx="3657600" cy="18288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800600" y="25146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🤖  IA Aplicada a Sistemas Reales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800600" y="2852928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Diseño de AgentLoop y ToolRegistry con LLMs.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Roles: MLOps, arquitectura de sistemas </a:t>
            </a: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multi-agentes</a:t>
            </a: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800600" y="3520440"/>
            <a:ext cx="3657600" cy="18288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4800600" y="36118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⚙  Arquitectura y Sistemas Distribuidos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800600" y="3950208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MCP, FastAPI, WebSocket, GCP, MongoDB.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Roles: backend senior, arquitectura de software.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Relación con Competencias del Perfil de Egreso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8046720" y="0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365760" y="868680"/>
            <a:ext cx="841248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365760" y="868680"/>
            <a:ext cx="73152" cy="914400"/>
          </a:xfrm>
          <a:prstGeom prst="rect">
            <a:avLst/>
          </a:prstGeom>
          <a:solidFill>
            <a:srgbClr val="14A085"/>
          </a:solidFill>
          <a:ln cap="flat" cmpd="sng" w="12700">
            <a:solidFill>
              <a:srgbClr val="14A0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548640" y="932688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Realizar pruebas de certificación de productos y procesos con buenas prácticas de la industria.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977640" y="960120"/>
            <a:ext cx="18288" cy="7315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4114800" y="932688"/>
            <a:ext cx="4526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ETH-MAS valida su pipeline con Metasploitable2 y DVWA (entornos de lab estándar de la industria). El AnalysisAgent aplica CVSS para priorizar riesgo, y el flujo HITL garantiza prácticas responsables.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365760" y="1892808"/>
            <a:ext cx="841248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365760" y="1892808"/>
            <a:ext cx="73152" cy="914400"/>
          </a:xfrm>
          <a:prstGeom prst="rect">
            <a:avLst/>
          </a:prstGeom>
          <a:solidFill>
            <a:srgbClr val="14A085"/>
          </a:solidFill>
          <a:ln cap="flat" cmpd="sng" w="12700">
            <a:solidFill>
              <a:srgbClr val="14A0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548640" y="1956816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Gestionar proyectos informáticos con alternativas para la toma de decisiones.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977640" y="1984248"/>
            <a:ext cx="18288" cy="7315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4114800" y="1956816"/>
            <a:ext cx="4526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El MissionController planifica y controla el pipeline completo. El dashboard permite al operador tomar decisiones informadas con evidencia estructurada en tiempo real.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65760" y="2916936"/>
            <a:ext cx="841248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365760" y="2916936"/>
            <a:ext cx="73152" cy="914400"/>
          </a:xfrm>
          <a:prstGeom prst="rect">
            <a:avLst/>
          </a:prstGeom>
          <a:solidFill>
            <a:srgbClr val="14A085"/>
          </a:solidFill>
          <a:ln cap="flat" cmpd="sng" w="12700">
            <a:solidFill>
              <a:srgbClr val="14A0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548640" y="2980944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Construir modelos de datos escalables para los requerimientos de la organización.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977640" y="3008376"/>
            <a:ext cx="18288" cy="7315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4114800" y="2980944"/>
            <a:ext cx="4526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Diseño e implementación de persistencia políglota: MongoDB (hallazgos semi-estructurados) + PostgreSQL (estado de engagement). Modelo de datos extensible y escalable en el tiempo.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65760" y="3941064"/>
            <a:ext cx="841248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365760" y="3941064"/>
            <a:ext cx="73152" cy="914400"/>
          </a:xfrm>
          <a:prstGeom prst="rect">
            <a:avLst/>
          </a:prstGeom>
          <a:solidFill>
            <a:srgbClr val="14A085"/>
          </a:solidFill>
          <a:ln cap="flat" cmpd="sng" w="12700">
            <a:solidFill>
              <a:srgbClr val="14A0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548640" y="4005072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Desarrollar una solución de software con técnicas que sistematicen el desarrollo y mantenimiento.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3977640" y="4032504"/>
            <a:ext cx="18288" cy="7315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4114800" y="4005072"/>
            <a:ext cx="4526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Arquitectura multi-agente con MCP, APIs REST + WebSocket, despliegue en GCP Cloud Run. El uso de contratos MCP estandariza la integración de nuevas herramientas sin refactoring.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Objetivos del Proyecto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8046720" y="0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65760" y="822960"/>
            <a:ext cx="8412480" cy="9144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548640" y="86868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Diseñar e implementar ETH-MAS, automatizando las fases de reconocimiento, escaneo y análisis del ethical hacking con mapeo a MITRE ATT&amp;CK Enterprise y generación de reportes priorizados en entornos de laboratorio.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365760" y="19019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365760" y="2286000"/>
            <a:ext cx="4114800" cy="749808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365760" y="2286000"/>
            <a:ext cx="502920" cy="74980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365760" y="2286000"/>
            <a:ext cx="502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OE1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960120" y="2359152"/>
            <a:ext cx="34290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Diseñar la arquitectura multi-agente: contratos MCP y modelo de datos con referencias MITRE ATT&amp;CK.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663440" y="2286000"/>
            <a:ext cx="4114800" cy="749808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4663440" y="2286000"/>
            <a:ext cx="502920" cy="74980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4663440" y="2286000"/>
            <a:ext cx="502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OE2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257800" y="2359152"/>
            <a:ext cx="34290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Implementar ReconAgent y ScanAgent con ejecución de herramientas y razonamiento en tiempo real.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365760" y="3154680"/>
            <a:ext cx="4114800" cy="749808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365760" y="3154680"/>
            <a:ext cx="502920" cy="74980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365760" y="3154680"/>
            <a:ext cx="502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OE3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960120" y="3227832"/>
            <a:ext cx="34290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Implementar AnalysisAgent para identificar vectores de ataque, asignar CVSS y mapear a ATT&amp;CK.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663440" y="3154680"/>
            <a:ext cx="4114800" cy="749808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4663440" y="3154680"/>
            <a:ext cx="502920" cy="74980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4663440" y="3154680"/>
            <a:ext cx="502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OE4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5257800" y="3227832"/>
            <a:ext cx="34290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Implementar ReporterAgent que genere reportes técnicos y ejecutivos en PDF con evidencia estructurada.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365760" y="4023360"/>
            <a:ext cx="4114800" cy="749808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365760" y="4023360"/>
            <a:ext cx="502920" cy="74980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365760" y="4023360"/>
            <a:ext cx="502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OE5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960120" y="4096512"/>
            <a:ext cx="34290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Implementar MissionController con gestión de scope y mecanismo Human-in-the-Loop (HITL).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663440" y="4023360"/>
            <a:ext cx="4114800" cy="749808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4663440" y="4023360"/>
            <a:ext cx="502920" cy="74980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4663440" y="4023360"/>
            <a:ext cx="502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OE6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257800" y="4096512"/>
            <a:ext cx="34290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Validar el sistema en Metasploitable2 y DVWA midiendo cobertura ATT&amp;CK y calidad de reportes.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Metodología de Trabajo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8046720" y="0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65760" y="868680"/>
            <a:ext cx="8412480" cy="68580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548640" y="868680"/>
            <a:ext cx="8138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Metodología Iterativa e Incremental (10 semanas)  ·  Prioridad: integración vertical end-to-end sobre completitud horizontal de features.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65760" y="1783080"/>
            <a:ext cx="1554480" cy="5029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365760" y="178308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MissionController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365760" y="2359152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Orquesta el pipeline,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gestiona scope y HITL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938528" y="1993392"/>
            <a:ext cx="100584" cy="9144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2057400" y="1783080"/>
            <a:ext cx="1554480" cy="50292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2057400" y="178308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ReconAgent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2057400" y="2359152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OSINT y reconocimiento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pasivo/semi-activo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3630168" y="1993392"/>
            <a:ext cx="100584" cy="9144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3749040" y="1783080"/>
            <a:ext cx="1554480" cy="50292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3749040" y="178308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ScanAgent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3749040" y="2359152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Escaneo activo: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Nmap, Nuclei, Nikto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5321808" y="1993392"/>
            <a:ext cx="100584" cy="9144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5440680" y="1783080"/>
            <a:ext cx="1554480" cy="50292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5440680" y="178308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AnalysisAgent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5440680" y="2359152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Correlación de hallazgos,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CVSS y mapeo ATT&amp;CK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7013448" y="1993392"/>
            <a:ext cx="100584" cy="9144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7132320" y="1783080"/>
            <a:ext cx="1554480" cy="502920"/>
          </a:xfrm>
          <a:prstGeom prst="rect">
            <a:avLst/>
          </a:prstGeom>
          <a:solidFill>
            <a:srgbClr val="14A085"/>
          </a:solidFill>
          <a:ln cap="flat" cmpd="sng" w="12700">
            <a:solidFill>
              <a:srgbClr val="14A08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7132320" y="178308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ReporterAgent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7132320" y="2359152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Reportes técnico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 ejecutivo en PDF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365760" y="31546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DIVISIÓN DE TRABAJO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365760" y="3520440"/>
            <a:ext cx="841248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502920" y="35204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Integrante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2148840" y="3611880"/>
            <a:ext cx="18288" cy="2743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2286000" y="35204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Arquitectura del sistema, MissionController, MCP servers, despliegue GCP.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365760" y="4041648"/>
            <a:ext cx="841248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502920" y="4041648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Integrante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2148840" y="4133088"/>
            <a:ext cx="18288" cy="2743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2286000" y="4041648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ReconAgent + ScanAgent, integración de herramientas (Nmap, Nuclei, theHarvester).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365760" y="4562856"/>
            <a:ext cx="841248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502920" y="4562856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Integrante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2148840" y="4654296"/>
            <a:ext cx="18288" cy="27432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2286000" y="4562856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AnalysisAgent + ReporterAgent, dashboard React, generación de reportes PDF.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 de Trabajo — 10 Semanas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8046720" y="0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365760" y="868680"/>
            <a:ext cx="2560320" cy="347472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457200" y="86868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Actividad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2971800" y="868680"/>
            <a:ext cx="580644" cy="347472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2971800" y="868680"/>
            <a:ext cx="5806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3570732" y="868680"/>
            <a:ext cx="580644" cy="347472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3570732" y="868680"/>
            <a:ext cx="5806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169664" y="868680"/>
            <a:ext cx="580644" cy="347472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4169664" y="868680"/>
            <a:ext cx="5806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4768596" y="868680"/>
            <a:ext cx="580644" cy="347472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4768596" y="868680"/>
            <a:ext cx="5806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S4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5367528" y="868680"/>
            <a:ext cx="580644" cy="347472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5367528" y="868680"/>
            <a:ext cx="5806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S5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5966460" y="868680"/>
            <a:ext cx="580644" cy="347472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5966460" y="868680"/>
            <a:ext cx="5806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S6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6565392" y="868680"/>
            <a:ext cx="580644" cy="347472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6565392" y="868680"/>
            <a:ext cx="5806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S7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7164324" y="868680"/>
            <a:ext cx="580644" cy="347472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7164324" y="868680"/>
            <a:ext cx="5806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S8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7763256" y="868680"/>
            <a:ext cx="580644" cy="347472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7763256" y="868680"/>
            <a:ext cx="5806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S9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8362188" y="868680"/>
            <a:ext cx="580644" cy="347472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8362188" y="868680"/>
            <a:ext cx="5806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S10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365760" y="1261872"/>
            <a:ext cx="256032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457200" y="126187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Arquitectura y entorno lab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2971800" y="1261872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3570732" y="1261872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4169664" y="1261872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4768596" y="1261872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5367528" y="1261872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5966460" y="1261872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6565392" y="1261872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7164324" y="1261872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7763256" y="1261872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8362188" y="1261872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3008376" y="1335024"/>
            <a:ext cx="1124712" cy="237744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365760" y="1700784"/>
            <a:ext cx="256032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457200" y="1700784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MCP servers y ReconAgent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2971800" y="1700784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3570732" y="1700784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4169664" y="1700784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4768596" y="1700784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5367528" y="1700784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5966460" y="1700784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6565392" y="1700784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7164324" y="1700784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7763256" y="1700784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8362188" y="1700784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3607308" y="1773936"/>
            <a:ext cx="1723644" cy="237744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365760" y="2139696"/>
            <a:ext cx="256032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457200" y="2139696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ScanAgent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2971800" y="2139696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3570732" y="2139696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4169664" y="2139696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4768596" y="2139696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5367528" y="2139696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5966460" y="2139696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6565392" y="2139696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7164324" y="2139696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7763256" y="2139696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8362188" y="2139696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4805172" y="2212848"/>
            <a:ext cx="1124712" cy="237744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365760" y="2578608"/>
            <a:ext cx="256032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457200" y="257860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AnalysisAgent + ATT&amp;CK mapping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2971800" y="2578608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3570732" y="2578608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4169664" y="2578608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4768596" y="2578608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5367528" y="2578608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5966460" y="2578608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6565392" y="2578608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7164324" y="2578608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7763256" y="2578608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8362188" y="2578608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5404104" y="2651760"/>
            <a:ext cx="1723644" cy="237744"/>
          </a:xfrm>
          <a:prstGeom prst="rect">
            <a:avLst/>
          </a:prstGeom>
          <a:solidFill>
            <a:srgbClr val="1D6FA5"/>
          </a:solidFill>
          <a:ln cap="flat" cmpd="sng" w="12700">
            <a:solidFill>
              <a:srgbClr val="1D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365760" y="3017520"/>
            <a:ext cx="256032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457200" y="301752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ReporterAgent + Dashboard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2971800" y="3017520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3570732" y="3017520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4169664" y="3017520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4768596" y="3017520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5367528" y="3017520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5966460" y="3017520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6565392" y="3017520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7164324" y="3017520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7763256" y="3017520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7"/>
          <p:cNvSpPr/>
          <p:nvPr/>
        </p:nvSpPr>
        <p:spPr>
          <a:xfrm>
            <a:off x="8362188" y="3017520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6601968" y="3090672"/>
            <a:ext cx="1124712" cy="237744"/>
          </a:xfrm>
          <a:prstGeom prst="rect">
            <a:avLst/>
          </a:prstGeom>
          <a:solidFill>
            <a:srgbClr val="14A085"/>
          </a:solidFill>
          <a:ln cap="flat" cmpd="sng" w="12700">
            <a:solidFill>
              <a:srgbClr val="14A0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365760" y="3456432"/>
            <a:ext cx="256032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457200" y="345643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Validación experimental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2971800" y="3456432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3570732" y="3456432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7"/>
          <p:cNvSpPr/>
          <p:nvPr/>
        </p:nvSpPr>
        <p:spPr>
          <a:xfrm>
            <a:off x="4169664" y="3456432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7"/>
          <p:cNvSpPr/>
          <p:nvPr/>
        </p:nvSpPr>
        <p:spPr>
          <a:xfrm>
            <a:off x="4768596" y="3456432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7"/>
          <p:cNvSpPr/>
          <p:nvPr/>
        </p:nvSpPr>
        <p:spPr>
          <a:xfrm>
            <a:off x="5367528" y="3456432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5966460" y="3456432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"/>
          <p:cNvSpPr/>
          <p:nvPr/>
        </p:nvSpPr>
        <p:spPr>
          <a:xfrm>
            <a:off x="6565392" y="3456432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7164324" y="3456432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7"/>
          <p:cNvSpPr/>
          <p:nvPr/>
        </p:nvSpPr>
        <p:spPr>
          <a:xfrm>
            <a:off x="7763256" y="3456432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7"/>
          <p:cNvSpPr/>
          <p:nvPr/>
        </p:nvSpPr>
        <p:spPr>
          <a:xfrm>
            <a:off x="8362188" y="3456432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7"/>
          <p:cNvSpPr/>
          <p:nvPr/>
        </p:nvSpPr>
        <p:spPr>
          <a:xfrm>
            <a:off x="7200900" y="3529584"/>
            <a:ext cx="1124712" cy="237744"/>
          </a:xfrm>
          <a:prstGeom prst="rect">
            <a:avLst/>
          </a:prstGeom>
          <a:solidFill>
            <a:srgbClr val="7B3FA0"/>
          </a:solidFill>
          <a:ln cap="flat" cmpd="sng" w="12700">
            <a:solidFill>
              <a:srgbClr val="7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7"/>
          <p:cNvSpPr/>
          <p:nvPr/>
        </p:nvSpPr>
        <p:spPr>
          <a:xfrm>
            <a:off x="365760" y="3895344"/>
            <a:ext cx="256032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"/>
          <p:cNvSpPr/>
          <p:nvPr/>
        </p:nvSpPr>
        <p:spPr>
          <a:xfrm>
            <a:off x="457200" y="3895344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Documentación y presentación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2971800" y="3895344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7"/>
          <p:cNvSpPr/>
          <p:nvPr/>
        </p:nvSpPr>
        <p:spPr>
          <a:xfrm>
            <a:off x="3570732" y="3895344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7"/>
          <p:cNvSpPr/>
          <p:nvPr/>
        </p:nvSpPr>
        <p:spPr>
          <a:xfrm>
            <a:off x="4169664" y="3895344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7"/>
          <p:cNvSpPr/>
          <p:nvPr/>
        </p:nvSpPr>
        <p:spPr>
          <a:xfrm>
            <a:off x="4768596" y="3895344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7"/>
          <p:cNvSpPr/>
          <p:nvPr/>
        </p:nvSpPr>
        <p:spPr>
          <a:xfrm>
            <a:off x="5367528" y="3895344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7"/>
          <p:cNvSpPr/>
          <p:nvPr/>
        </p:nvSpPr>
        <p:spPr>
          <a:xfrm>
            <a:off x="5966460" y="3895344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7"/>
          <p:cNvSpPr/>
          <p:nvPr/>
        </p:nvSpPr>
        <p:spPr>
          <a:xfrm>
            <a:off x="6565392" y="3895344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7"/>
          <p:cNvSpPr/>
          <p:nvPr/>
        </p:nvSpPr>
        <p:spPr>
          <a:xfrm>
            <a:off x="7164324" y="3895344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7"/>
          <p:cNvSpPr/>
          <p:nvPr/>
        </p:nvSpPr>
        <p:spPr>
          <a:xfrm>
            <a:off x="7763256" y="3895344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7"/>
          <p:cNvSpPr/>
          <p:nvPr/>
        </p:nvSpPr>
        <p:spPr>
          <a:xfrm>
            <a:off x="8362188" y="3895344"/>
            <a:ext cx="580644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7"/>
          <p:cNvSpPr/>
          <p:nvPr/>
        </p:nvSpPr>
        <p:spPr>
          <a:xfrm>
            <a:off x="8398764" y="3968496"/>
            <a:ext cx="525780" cy="237744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7"/>
          <p:cNvSpPr/>
          <p:nvPr/>
        </p:nvSpPr>
        <p:spPr>
          <a:xfrm>
            <a:off x="365760" y="4315968"/>
            <a:ext cx="4114800" cy="749808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7"/>
          <p:cNvSpPr/>
          <p:nvPr/>
        </p:nvSpPr>
        <p:spPr>
          <a:xfrm>
            <a:off x="365760" y="4315968"/>
            <a:ext cx="4114800" cy="64008"/>
          </a:xfrm>
          <a:prstGeom prst="rect">
            <a:avLst/>
          </a:prstGeom>
          <a:solidFill>
            <a:srgbClr val="14A085"/>
          </a:solidFill>
          <a:ln cap="flat" cmpd="sng" w="12700">
            <a:solidFill>
              <a:srgbClr val="14A0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7"/>
          <p:cNvSpPr/>
          <p:nvPr/>
        </p:nvSpPr>
        <p:spPr>
          <a:xfrm>
            <a:off x="502920" y="437997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✅ Facilitadores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502920" y="464515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Claude API con soporte MCP nativo  ·  Herramientas OSS: Nmap, Nuclei, Nikto  ·  Metasploitable2 / DVWA preconfigurados  ·  MongoDB Atlas y GCP con tier gratuito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4709160" y="4315968"/>
            <a:ext cx="4114800" cy="749808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7"/>
          <p:cNvSpPr/>
          <p:nvPr/>
        </p:nvSpPr>
        <p:spPr>
          <a:xfrm>
            <a:off x="4709160" y="4315968"/>
            <a:ext cx="4114800" cy="6400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7"/>
          <p:cNvSpPr/>
          <p:nvPr/>
        </p:nvSpPr>
        <p:spPr>
          <a:xfrm>
            <a:off x="4846320" y="437997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 Obstaculizadores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7"/>
          <p:cNvSpPr/>
          <p:nvPr/>
        </p:nvSpPr>
        <p:spPr>
          <a:xfrm>
            <a:off x="4846320" y="464515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Coordinación del entorno experimental  ·  Latencia y costos de Claude API  ·  Outputs voluminosos de herramientas  ·  Disponibilidad horaria del equipo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8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Factibilidad y Evidencias de Logro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8046720" y="0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365760" y="8229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FACTIBILIDAD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365760" y="1188720"/>
            <a:ext cx="2743200" cy="155448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8"/>
          <p:cNvSpPr/>
          <p:nvPr/>
        </p:nvSpPr>
        <p:spPr>
          <a:xfrm>
            <a:off x="365760" y="1188720"/>
            <a:ext cx="2743200" cy="73152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8"/>
          <p:cNvSpPr/>
          <p:nvPr/>
        </p:nvSpPr>
        <p:spPr>
          <a:xfrm>
            <a:off x="502920" y="12801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Técnica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502920" y="1664208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Equipo con experiencia en Python, FastAPI y LLM agents. Claude API con soporte MCP nativo elimina implementación desde cero.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3246120" y="1188720"/>
            <a:ext cx="2743200" cy="155448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8"/>
          <p:cNvSpPr/>
          <p:nvPr/>
        </p:nvSpPr>
        <p:spPr>
          <a:xfrm>
            <a:off x="3246120" y="1188720"/>
            <a:ext cx="2743200" cy="73152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8"/>
          <p:cNvSpPr/>
          <p:nvPr/>
        </p:nvSpPr>
        <p:spPr>
          <a:xfrm>
            <a:off x="3383280" y="12801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Económica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3383280" y="1664208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Costo estimado USD 35–50 totales. Claude API ~USD 15/mes. MongoDB Atlas y GCP con tier gratuito. Herramientas de seguridad OSS.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6126480" y="1188720"/>
            <a:ext cx="2743200" cy="155448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8"/>
          <p:cNvSpPr/>
          <p:nvPr/>
        </p:nvSpPr>
        <p:spPr>
          <a:xfrm>
            <a:off x="6126480" y="1188720"/>
            <a:ext cx="2743200" cy="73152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8"/>
          <p:cNvSpPr/>
          <p:nvPr/>
        </p:nvSpPr>
        <p:spPr>
          <a:xfrm>
            <a:off x="6263640" y="12801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Temporal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6263640" y="1664208"/>
            <a:ext cx="24688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Scope acotado a 4 agentes + pipeline Recon→Scan→Análisis→Reporte. ExploitAgent y PostExploitAgent excluidos del prototipo.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365760" y="28803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EVIDENCIAS DE LOGRO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365760" y="3218688"/>
            <a:ext cx="41148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8"/>
          <p:cNvSpPr/>
          <p:nvPr/>
        </p:nvSpPr>
        <p:spPr>
          <a:xfrm>
            <a:off x="365760" y="3218688"/>
            <a:ext cx="438912" cy="5029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8"/>
          <p:cNvSpPr/>
          <p:nvPr/>
        </p:nvSpPr>
        <p:spPr>
          <a:xfrm>
            <a:off x="365760" y="3218688"/>
            <a:ext cx="4389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896112" y="3218688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Repositorio GitHub con código funcional de los 5 agentes y MCP servers integrados.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4709160" y="3218688"/>
            <a:ext cx="41148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8"/>
          <p:cNvSpPr/>
          <p:nvPr/>
        </p:nvSpPr>
        <p:spPr>
          <a:xfrm>
            <a:off x="4709160" y="3218688"/>
            <a:ext cx="438912" cy="5029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8"/>
          <p:cNvSpPr/>
          <p:nvPr/>
        </p:nvSpPr>
        <p:spPr>
          <a:xfrm>
            <a:off x="4709160" y="3218688"/>
            <a:ext cx="4389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5239512" y="3218688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Capturas del dashboard React mostrando hallazgos en tiempo real con técnicas ATT&amp;CK.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365760" y="3785616"/>
            <a:ext cx="41148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8"/>
          <p:cNvSpPr/>
          <p:nvPr/>
        </p:nvSpPr>
        <p:spPr>
          <a:xfrm>
            <a:off x="365760" y="3785616"/>
            <a:ext cx="438912" cy="5029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8"/>
          <p:cNvSpPr/>
          <p:nvPr/>
        </p:nvSpPr>
        <p:spPr>
          <a:xfrm>
            <a:off x="365760" y="3785616"/>
            <a:ext cx="4389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896112" y="3785616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Reportes PDF generados automáticamente (técnico y ejecutivo) sobre Metasploitable2.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4709160" y="3785616"/>
            <a:ext cx="41148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8"/>
          <p:cNvSpPr/>
          <p:nvPr/>
        </p:nvSpPr>
        <p:spPr>
          <a:xfrm>
            <a:off x="4709160" y="3785616"/>
            <a:ext cx="438912" cy="5029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8"/>
          <p:cNvSpPr/>
          <p:nvPr/>
        </p:nvSpPr>
        <p:spPr>
          <a:xfrm>
            <a:off x="4709160" y="3785616"/>
            <a:ext cx="4389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5239512" y="3785616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Video demo del pipeline completo Recon→Scan→Análisis→Reporte con HITL activo.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365760" y="4352544"/>
            <a:ext cx="41148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8"/>
          <p:cNvSpPr/>
          <p:nvPr/>
        </p:nvSpPr>
        <p:spPr>
          <a:xfrm>
            <a:off x="365760" y="4352544"/>
            <a:ext cx="438912" cy="5029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8"/>
          <p:cNvSpPr/>
          <p:nvPr/>
        </p:nvSpPr>
        <p:spPr>
          <a:xfrm>
            <a:off x="365760" y="4352544"/>
            <a:ext cx="4389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896112" y="4352544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Informe de validación: cobertura de técnicas ATT&amp;CK detectadas vs. vulnerabilidades conocidas.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4709160" y="4352544"/>
            <a:ext cx="411480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8"/>
          <p:cNvSpPr/>
          <p:nvPr/>
        </p:nvSpPr>
        <p:spPr>
          <a:xfrm>
            <a:off x="4709160" y="4352544"/>
            <a:ext cx="438912" cy="50292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8"/>
          <p:cNvSpPr/>
          <p:nvPr/>
        </p:nvSpPr>
        <p:spPr>
          <a:xfrm>
            <a:off x="4709160" y="4352544"/>
            <a:ext cx="4389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5239512" y="4352544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Documentación técnica: diagramas de arquitectura, contratos MCP y modelo de datos.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A085"/>
          </a:solidFill>
          <a:ln cap="flat" cmpd="sng" w="12700">
            <a:solidFill>
              <a:srgbClr val="14A0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4A085"/>
          </a:solidFill>
          <a:ln cap="flat" cmpd="sng" w="12700">
            <a:solidFill>
              <a:srgbClr val="14A0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9"/>
          <p:cNvSpPr/>
          <p:nvPr/>
        </p:nvSpPr>
        <p:spPr>
          <a:xfrm>
            <a:off x="914400" y="118872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ETH-MAS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914400" y="205740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8E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8C8E8"/>
                </a:solidFill>
                <a:latin typeface="Calibri"/>
                <a:ea typeface="Calibri"/>
                <a:cs typeface="Calibri"/>
                <a:sym typeface="Calibri"/>
              </a:rPr>
              <a:t>Sistema Multi-Agente para Ethical Hacking Asistido por 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3200400" y="2697480"/>
            <a:ext cx="2743200" cy="36576"/>
          </a:xfrm>
          <a:prstGeom prst="rect">
            <a:avLst/>
          </a:prstGeom>
          <a:solidFill>
            <a:srgbClr val="14A085"/>
          </a:solidFill>
          <a:ln cap="flat" cmpd="sng" w="12700">
            <a:solidFill>
              <a:srgbClr val="14A0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9"/>
          <p:cNvSpPr/>
          <p:nvPr/>
        </p:nvSpPr>
        <p:spPr>
          <a:xfrm>
            <a:off x="914400" y="292608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MCP  ·  MITRE ATT&amp;CK  ·  LLM Agents  ·  CVSS  ·  HITL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914400" y="43891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AC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AACC8"/>
                </a:solidFill>
                <a:latin typeface="Calibri"/>
                <a:ea typeface="Calibri"/>
                <a:cs typeface="Calibri"/>
                <a:sym typeface="Calibri"/>
              </a:rPr>
              <a:t>PTY4614 Capstone  ·  Escuela de Ingeniería Informática  ·  Santiago, Chile — 2025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914400" y="34290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¿Preguntas?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2026-04-10T22:54:32Z</dcterms:created>
  <dc:creator>PptxGenJS</dc:creator>
</cp:coreProperties>
</file>