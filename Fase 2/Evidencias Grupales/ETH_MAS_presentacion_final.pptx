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2" y="18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9157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Contenido estructurado a partir de ETH_MAS_Definicion_Proyecto.pptx y Formato Presentación final.pptx aportados por el usuario.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Rolificación elaborada a partir del contenido de metodología y división de trabajo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Problemas P1, P2 y P3 y descripción del proyecto tomados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Objetivo general y objetivos específicos adaptados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Factibilidad y delimitación del prototipo tomadas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Metodología iterativa e incremental y división del trabajo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Cronograma derivado de Plan de trabajo — 10 semanas del archivo ETH_MAS_Definicion_Proyecto.pptx y adaptado al formato final aportado por el usuario.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Arquitectura y módulos adaptados de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Modelo de datos derivado del enfoque del proyecto y de la estructura funcional del documento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Tecnologías basadas en ETH_MAS_Definicion_Proyecto.pptx y ajustadas a la narrativa final del proyecto.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Flujo de demostración construido a partir de la arquitectura y objetivos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Resultados formulados a partir de las evidencias de logro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Obstaculizadores y ajustes de alcance derivados del archivo ETH_MAS_Definicion_Proyecto.pptx.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Lámina de cierre basada en el formato final aportado por el usuario.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11480" y="822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ETH-MAS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143000"/>
            <a:ext cx="107899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164592" cy="4297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ETH-MAS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asistida por IA para el análisis de hallazgos de seguridad basados en MITRE ATT&amp;CK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Presentación final Capstone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Ingeniería en Informática · PTY4614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72600" y="41605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</a:rPr>
              <a:t>Equipo de proyecto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F172A"/>
                </a:solidFill>
              </a:rPr>
              <a:t>David Garrido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>
                <a:solidFill>
                  <a:srgbClr val="0F172A"/>
                </a:solidFill>
              </a:rPr>
              <a:t>Rodrigo </a:t>
            </a:r>
            <a:r>
              <a:rPr lang="en-US" sz="1300" dirty="0" err="1">
                <a:solidFill>
                  <a:srgbClr val="0F172A"/>
                </a:solidFill>
              </a:rPr>
              <a:t>Santibañez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 err="1">
                <a:solidFill>
                  <a:srgbClr val="0F172A"/>
                </a:solidFill>
              </a:rPr>
              <a:t>Yerson</a:t>
            </a:r>
            <a:r>
              <a:rPr lang="en-US" sz="1300" dirty="0">
                <a:solidFill>
                  <a:srgbClr val="0F172A"/>
                </a:solidFill>
              </a:rPr>
              <a:t> Molina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pic>
        <p:nvPicPr>
          <p:cNvPr id="11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CA012E96-1D70-9922-AE8F-62258FC3E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4817" y="114300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Integrantes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Distribución de roles y responsabilidades principales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9728" cy="4389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86968" y="145389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Integrante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728216"/>
            <a:ext cx="306324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Cargo: Arquitectura y backend</a:t>
            </a:r>
            <a:endParaRPr lang="en-US" sz="1247" dirty="0"/>
          </a:p>
          <a:p>
            <a:pPr marL="0" indent="0">
              <a:buNone/>
            </a:pP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Funciones: Diseño de arquitectura general, coordinación del flujo principal del sistema, desarrollo de API y gestión de integración entre módulos.</a:t>
            </a:r>
            <a:endParaRPr lang="en-US" sz="1247" dirty="0"/>
          </a:p>
        </p:txBody>
      </p:sp>
      <p:sp>
        <p:nvSpPr>
          <p:cNvPr id="8" name="Shape 6"/>
          <p:cNvSpPr/>
          <p:nvPr/>
        </p:nvSpPr>
        <p:spPr>
          <a:xfrm>
            <a:off x="4526280" y="13258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109728" cy="4389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727448" y="145389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Integrante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7448" y="1728216"/>
            <a:ext cx="306324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Cargo: Integración de herramientas de seguridad</a:t>
            </a:r>
            <a:endParaRPr lang="en-US" sz="1247" dirty="0"/>
          </a:p>
          <a:p>
            <a:pPr marL="0" indent="0">
              <a:buNone/>
            </a:pP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Funciones: Implementación de reconocimiento y escaneo, integración de herramientas técnicas y procesamiento inicial de resultados.</a:t>
            </a:r>
            <a:endParaRPr lang="en-US" sz="1247" dirty="0"/>
          </a:p>
        </p:txBody>
      </p:sp>
      <p:sp>
        <p:nvSpPr>
          <p:cNvPr id="12" name="Shape 10"/>
          <p:cNvSpPr/>
          <p:nvPr/>
        </p:nvSpPr>
        <p:spPr>
          <a:xfrm>
            <a:off x="8366760" y="13258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8366760" y="1325880"/>
            <a:ext cx="109728" cy="4389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8567928" y="145389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Integrante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67928" y="1728216"/>
            <a:ext cx="306324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Cargo: Análisis con IA y reportería</a:t>
            </a:r>
            <a:endParaRPr lang="en-US" sz="1247" dirty="0"/>
          </a:p>
          <a:p>
            <a:pPr marL="0" indent="0">
              <a:buNone/>
            </a:pP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Funciones: Desarrollo del módulo de análisis y clasificación, mapeo a MITRE ATT&amp;CK, generación de reportes y apoyo en visualización.</a:t>
            </a:r>
            <a:endParaRPr lang="en-US" sz="1247" dirty="0"/>
          </a:p>
        </p:txBody>
      </p:sp>
      <p:sp>
        <p:nvSpPr>
          <p:cNvPr id="16" name="Text 14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Descripción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presentación se centra primero en el problema, luego en la propuesta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41248" y="120700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Problema o dolor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55080" y="1143000"/>
            <a:ext cx="224028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464808" y="1207008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Propuesta de solución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109728" cy="4434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32688" y="16367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Problema o dolor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1911096"/>
            <a:ext cx="484632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En los procesos de análisis de seguridad informática, herramientas como escáneres de puertos, detectores de vulnerabilidades y utilidades de reconocimiento generan gran volumen de información técnica. Estos resultados suelen presentarse de forma fragmentada, heterogénea y con ruido, obligando a un análisis manual intensivo para distinguir qué hallazgos representan un riesgo real.</a:t>
            </a:r>
            <a:endParaRPr lang="en-US" sz="1247" dirty="0"/>
          </a:p>
          <a:p>
            <a:pPr marL="0" indent="0">
              <a:buNone/>
            </a:pP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Además, muchos hallazgos no se relacionan directamente con marcos como MITRE ATT&amp;CK, lo que dificulta interpretar su rol dentro de una posible cadena de ataque y afecta la priorización del riesgo y la consistencia de los reportes.</a:t>
            </a:r>
            <a:endParaRPr lang="en-US" sz="1247" dirty="0"/>
          </a:p>
        </p:txBody>
      </p:sp>
      <p:sp>
        <p:nvSpPr>
          <p:cNvPr id="12" name="Shape 10"/>
          <p:cNvSpPr/>
          <p:nvPr/>
        </p:nvSpPr>
        <p:spPr>
          <a:xfrm>
            <a:off x="6355080" y="150876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355080" y="1508760"/>
            <a:ext cx="109728" cy="4434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556248" y="16367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Propuesta de solución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6248" y="1911096"/>
            <a:ext cx="480060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Desarrollar una plataforma asistida por IA que consolide hallazgos obtenidos desde herramientas de reconocimiento y escaneo, los interprete automáticamente, los relacione con MITRE ATT&amp;CK e identifique patrones y vectores de ataque en entornos controlados.</a:t>
            </a:r>
            <a:endParaRPr lang="en-US" sz="1247" dirty="0"/>
          </a:p>
          <a:p>
            <a:pPr marL="0" indent="0">
              <a:buNone/>
            </a:pP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A partir de ello, el sistema genera reportes priorizados que apoyan el análisis de seguridad y mejoran la consistencia de los resultados entregados.</a:t>
            </a:r>
            <a:endParaRPr lang="en-US" sz="1247" dirty="0"/>
          </a:p>
        </p:txBody>
      </p:sp>
      <p:sp>
        <p:nvSpPr>
          <p:cNvPr id="16" name="Text 14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Definen el alcance funcional del prototipo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972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32688" y="140817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Objetivo general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682496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Desarrollar una plataforma asistida por IA para identificar patrones y vectores de ataque a partir de hallazgos de seguridad, relacionándolos con MITRE ATT&amp;CK y generando reportes priorizados en entornos controlados.</a:t>
            </a:r>
            <a:endParaRPr lang="en-US" sz="1063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205740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841248" y="276148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Objetivos específicos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10607040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Integrar herramientas de reconocimiento y escaneo para recolectar evidencia técnica desde objetivos </a:t>
            </a:r>
            <a:r>
              <a:rPr lang="en-US" sz="17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autorizados</a:t>
            </a: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un modelo de datos para normalizar hallazgos provenientes de distintas </a:t>
            </a:r>
            <a:r>
              <a:rPr lang="en-US" sz="17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</a:t>
            </a: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Implementar un módulo de IA capaz de interpretar hallazgos y asociarlos a tácticas y técnicas de MITRE ATT&amp;CK.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patrones y posibles vectores de ataque a partir de la evidencia </a:t>
            </a:r>
            <a:r>
              <a:rPr lang="en-US" sz="17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recopilada</a:t>
            </a: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Priorizar hallazgos y generar reportes automáticos con evidencia y </a:t>
            </a:r>
            <a:r>
              <a:rPr lang="en-US" sz="17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recomendaciones</a:t>
            </a: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la plataforma en un entorno de laboratorio controlado.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Alcances y limitaciones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acota el prototipo para hacerlo viable en el plazo definido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86968" y="1207008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Alcances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55080" y="1143000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464808" y="120700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Limitaciones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777240" y="1508760"/>
            <a:ext cx="109728" cy="4480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78408" y="16367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Alcances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8408" y="1911096"/>
            <a:ext cx="475488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Integración de herramientas de reconocimiento y escaneo.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Recolección y normalización de hallazgos técnicos.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Análisis asistido por IA sobre evidencia obtenida.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Relación de hallazgos con MITRE ATT&amp;CK.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Identificación de patrones y vectores de ataque.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Priorización de riesgos y generación automática de reportes.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Validación en entorno de laboratorio controlado.</a:t>
            </a:r>
            <a:endParaRPr lang="en-US" sz="1247" dirty="0"/>
          </a:p>
        </p:txBody>
      </p:sp>
      <p:sp>
        <p:nvSpPr>
          <p:cNvPr id="12" name="Shape 10"/>
          <p:cNvSpPr/>
          <p:nvPr/>
        </p:nvSpPr>
        <p:spPr>
          <a:xfrm>
            <a:off x="6355080" y="150876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355080" y="1508760"/>
            <a:ext cx="109728" cy="4480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556248" y="16367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Limitaciones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6248" y="1911096"/>
            <a:ext cx="475488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Restringido a entornos autorizados y de laboratorio.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No contempla explotación destructiva real.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No incluye post-explotación avanzada.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No cubre la totalidad de la matriz MITRE ATT&amp;CK.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La calidad del análisis depende de la evidencia entregada por las herramientas integradas.</a:t>
            </a:r>
            <a:endParaRPr lang="en-US" sz="1247" dirty="0"/>
          </a:p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• Se enfoca en un prototipo académico, no en una solución empresarial completa.</a:t>
            </a:r>
            <a:endParaRPr lang="en-US" sz="1247" dirty="0"/>
          </a:p>
        </p:txBody>
      </p:sp>
      <p:sp>
        <p:nvSpPr>
          <p:cNvPr id="16" name="Text 14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 de trabajo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iterativo e incremental con validación continua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972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32688" y="136245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Enfoque metodológico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636776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El proyecto se desarrolló mediante una metodología iterativa e incremental, priorizando la construcción de un flujo funcional de extremo a extremo por sobre la implementación de funcionalidades aisladas. Este enfoque permitió integrar progresivamente los módulos, validar resultados en cada etapa y ajustar el alcance según la factibilidad técnica y temporal del equipo.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109728" cy="2468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024128" y="2779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1. Definición del problema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" y="3054096"/>
            <a:ext cx="16916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Levantamiento de necesidades, alcance y criterios de validación.</a:t>
            </a:r>
            <a:endParaRPr lang="en-US" sz="1247" dirty="0"/>
          </a:p>
        </p:txBody>
      </p:sp>
      <p:sp>
        <p:nvSpPr>
          <p:cNvPr id="12" name="Shape 10"/>
          <p:cNvSpPr/>
          <p:nvPr/>
        </p:nvSpPr>
        <p:spPr>
          <a:xfrm>
            <a:off x="3063240" y="265176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063240" y="2651760"/>
            <a:ext cx="109728" cy="2468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264408" y="2779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2. Diseño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64408" y="3054096"/>
            <a:ext cx="16916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Arquitectura, modelo de datos y entorno de laboratorio.</a:t>
            </a:r>
            <a:endParaRPr lang="en-US" sz="1247" dirty="0"/>
          </a:p>
        </p:txBody>
      </p:sp>
      <p:sp>
        <p:nvSpPr>
          <p:cNvPr id="16" name="Shape 14"/>
          <p:cNvSpPr/>
          <p:nvPr/>
        </p:nvSpPr>
        <p:spPr>
          <a:xfrm>
            <a:off x="5303520" y="265176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5303520" y="2651760"/>
            <a:ext cx="109728" cy="2468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504688" y="2779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3. Integración técnica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04688" y="3054096"/>
            <a:ext cx="16916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Herramientas de reconocimiento y escaneo.</a:t>
            </a:r>
            <a:endParaRPr lang="en-US" sz="1247" dirty="0"/>
          </a:p>
        </p:txBody>
      </p:sp>
      <p:sp>
        <p:nvSpPr>
          <p:cNvPr id="20" name="Shape 18"/>
          <p:cNvSpPr/>
          <p:nvPr/>
        </p:nvSpPr>
        <p:spPr>
          <a:xfrm>
            <a:off x="7543800" y="265176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7543800" y="2651760"/>
            <a:ext cx="109728" cy="2468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7744968" y="2779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4. Inteligencia aplicada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44968" y="3054096"/>
            <a:ext cx="16916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Módulo IA para interpretación, clasificación y priorización.</a:t>
            </a:r>
            <a:endParaRPr lang="en-US" sz="1247" dirty="0"/>
          </a:p>
        </p:txBody>
      </p:sp>
      <p:sp>
        <p:nvSpPr>
          <p:cNvPr id="24" name="Shape 22"/>
          <p:cNvSpPr/>
          <p:nvPr/>
        </p:nvSpPr>
        <p:spPr>
          <a:xfrm>
            <a:off x="9784080" y="265176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9784080" y="2651760"/>
            <a:ext cx="109728" cy="2468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9985248" y="2779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5. Validación y cierre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85248" y="3054096"/>
            <a:ext cx="16916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Reportería, pruebas, ajustes, documentación y defensa.</a:t>
            </a:r>
            <a:endParaRPr lang="en-US" sz="1247" dirty="0"/>
          </a:p>
        </p:txBody>
      </p:sp>
      <p:sp>
        <p:nvSpPr>
          <p:cNvPr id="28" name="Text 26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Cronograma para el desarrollo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general de trabajo para 10 semanas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729047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726575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724102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4721629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719156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716684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7714211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8711738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9709265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10706793" y="1417320"/>
            <a:ext cx="997527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731520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1729047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2726575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3724102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721629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5719156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6716684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7714211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711738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9709265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10706793" y="185623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731520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1729047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2726575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3724102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4721629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5719156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6716684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7714211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711738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9709265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10706793" y="229514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731520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1729047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Shape 37"/>
          <p:cNvSpPr/>
          <p:nvPr/>
        </p:nvSpPr>
        <p:spPr>
          <a:xfrm>
            <a:off x="2726575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Shape 38"/>
          <p:cNvSpPr/>
          <p:nvPr/>
        </p:nvSpPr>
        <p:spPr>
          <a:xfrm>
            <a:off x="3724102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9"/>
          <p:cNvSpPr/>
          <p:nvPr/>
        </p:nvSpPr>
        <p:spPr>
          <a:xfrm>
            <a:off x="4721629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40"/>
          <p:cNvSpPr/>
          <p:nvPr/>
        </p:nvSpPr>
        <p:spPr>
          <a:xfrm>
            <a:off x="5719156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Shape 41"/>
          <p:cNvSpPr/>
          <p:nvPr/>
        </p:nvSpPr>
        <p:spPr>
          <a:xfrm>
            <a:off x="6716684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Shape 42"/>
          <p:cNvSpPr/>
          <p:nvPr/>
        </p:nvSpPr>
        <p:spPr>
          <a:xfrm>
            <a:off x="7714211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3"/>
          <p:cNvSpPr/>
          <p:nvPr/>
        </p:nvSpPr>
        <p:spPr>
          <a:xfrm>
            <a:off x="8711738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Shape 44"/>
          <p:cNvSpPr/>
          <p:nvPr/>
        </p:nvSpPr>
        <p:spPr>
          <a:xfrm>
            <a:off x="9709265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Shape 45"/>
          <p:cNvSpPr/>
          <p:nvPr/>
        </p:nvSpPr>
        <p:spPr>
          <a:xfrm>
            <a:off x="10706793" y="273405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Shape 46"/>
          <p:cNvSpPr/>
          <p:nvPr/>
        </p:nvSpPr>
        <p:spPr>
          <a:xfrm>
            <a:off x="731520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Shape 47"/>
          <p:cNvSpPr/>
          <p:nvPr/>
        </p:nvSpPr>
        <p:spPr>
          <a:xfrm>
            <a:off x="1729047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Shape 48"/>
          <p:cNvSpPr/>
          <p:nvPr/>
        </p:nvSpPr>
        <p:spPr>
          <a:xfrm>
            <a:off x="2726575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Shape 49"/>
          <p:cNvSpPr/>
          <p:nvPr/>
        </p:nvSpPr>
        <p:spPr>
          <a:xfrm>
            <a:off x="3724102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Shape 50"/>
          <p:cNvSpPr/>
          <p:nvPr/>
        </p:nvSpPr>
        <p:spPr>
          <a:xfrm>
            <a:off x="4721629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Shape 51"/>
          <p:cNvSpPr/>
          <p:nvPr/>
        </p:nvSpPr>
        <p:spPr>
          <a:xfrm>
            <a:off x="5719156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Shape 52"/>
          <p:cNvSpPr/>
          <p:nvPr/>
        </p:nvSpPr>
        <p:spPr>
          <a:xfrm>
            <a:off x="6716684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Shape 53"/>
          <p:cNvSpPr/>
          <p:nvPr/>
        </p:nvSpPr>
        <p:spPr>
          <a:xfrm>
            <a:off x="7714211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Shape 54"/>
          <p:cNvSpPr/>
          <p:nvPr/>
        </p:nvSpPr>
        <p:spPr>
          <a:xfrm>
            <a:off x="8711738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Shape 55"/>
          <p:cNvSpPr/>
          <p:nvPr/>
        </p:nvSpPr>
        <p:spPr>
          <a:xfrm>
            <a:off x="9709265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8" name="Shape 56"/>
          <p:cNvSpPr/>
          <p:nvPr/>
        </p:nvSpPr>
        <p:spPr>
          <a:xfrm>
            <a:off x="10706793" y="317296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9" name="Shape 57"/>
          <p:cNvSpPr/>
          <p:nvPr/>
        </p:nvSpPr>
        <p:spPr>
          <a:xfrm>
            <a:off x="731520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Shape 58"/>
          <p:cNvSpPr/>
          <p:nvPr/>
        </p:nvSpPr>
        <p:spPr>
          <a:xfrm>
            <a:off x="1729047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1" name="Shape 59"/>
          <p:cNvSpPr/>
          <p:nvPr/>
        </p:nvSpPr>
        <p:spPr>
          <a:xfrm>
            <a:off x="2726575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2" name="Shape 60"/>
          <p:cNvSpPr/>
          <p:nvPr/>
        </p:nvSpPr>
        <p:spPr>
          <a:xfrm>
            <a:off x="3724102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Shape 61"/>
          <p:cNvSpPr/>
          <p:nvPr/>
        </p:nvSpPr>
        <p:spPr>
          <a:xfrm>
            <a:off x="4721629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4" name="Shape 62"/>
          <p:cNvSpPr/>
          <p:nvPr/>
        </p:nvSpPr>
        <p:spPr>
          <a:xfrm>
            <a:off x="5719156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Shape 63"/>
          <p:cNvSpPr/>
          <p:nvPr/>
        </p:nvSpPr>
        <p:spPr>
          <a:xfrm>
            <a:off x="6716684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6" name="Shape 64"/>
          <p:cNvSpPr/>
          <p:nvPr/>
        </p:nvSpPr>
        <p:spPr>
          <a:xfrm>
            <a:off x="7714211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Shape 65"/>
          <p:cNvSpPr/>
          <p:nvPr/>
        </p:nvSpPr>
        <p:spPr>
          <a:xfrm>
            <a:off x="8711738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8" name="Shape 66"/>
          <p:cNvSpPr/>
          <p:nvPr/>
        </p:nvSpPr>
        <p:spPr>
          <a:xfrm>
            <a:off x="9709265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9" name="Shape 67"/>
          <p:cNvSpPr/>
          <p:nvPr/>
        </p:nvSpPr>
        <p:spPr>
          <a:xfrm>
            <a:off x="10706793" y="3611880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0" name="Shape 68"/>
          <p:cNvSpPr/>
          <p:nvPr/>
        </p:nvSpPr>
        <p:spPr>
          <a:xfrm>
            <a:off x="731520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1" name="Shape 69"/>
          <p:cNvSpPr/>
          <p:nvPr/>
        </p:nvSpPr>
        <p:spPr>
          <a:xfrm>
            <a:off x="1729047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2" name="Shape 70"/>
          <p:cNvSpPr/>
          <p:nvPr/>
        </p:nvSpPr>
        <p:spPr>
          <a:xfrm>
            <a:off x="2726575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3" name="Shape 71"/>
          <p:cNvSpPr/>
          <p:nvPr/>
        </p:nvSpPr>
        <p:spPr>
          <a:xfrm>
            <a:off x="3724102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4" name="Shape 72"/>
          <p:cNvSpPr/>
          <p:nvPr/>
        </p:nvSpPr>
        <p:spPr>
          <a:xfrm>
            <a:off x="4721629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5" name="Shape 73"/>
          <p:cNvSpPr/>
          <p:nvPr/>
        </p:nvSpPr>
        <p:spPr>
          <a:xfrm>
            <a:off x="5719156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6" name="Shape 74"/>
          <p:cNvSpPr/>
          <p:nvPr/>
        </p:nvSpPr>
        <p:spPr>
          <a:xfrm>
            <a:off x="6716684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7" name="Shape 75"/>
          <p:cNvSpPr/>
          <p:nvPr/>
        </p:nvSpPr>
        <p:spPr>
          <a:xfrm>
            <a:off x="7714211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8" name="Shape 76"/>
          <p:cNvSpPr/>
          <p:nvPr/>
        </p:nvSpPr>
        <p:spPr>
          <a:xfrm>
            <a:off x="8711738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9" name="Shape 77"/>
          <p:cNvSpPr/>
          <p:nvPr/>
        </p:nvSpPr>
        <p:spPr>
          <a:xfrm>
            <a:off x="9709265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0" name="Shape 78"/>
          <p:cNvSpPr/>
          <p:nvPr/>
        </p:nvSpPr>
        <p:spPr>
          <a:xfrm>
            <a:off x="10706793" y="4050792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1" name="Shape 79"/>
          <p:cNvSpPr/>
          <p:nvPr/>
        </p:nvSpPr>
        <p:spPr>
          <a:xfrm>
            <a:off x="731520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2" name="Shape 80"/>
          <p:cNvSpPr/>
          <p:nvPr/>
        </p:nvSpPr>
        <p:spPr>
          <a:xfrm>
            <a:off x="1729047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3" name="Shape 81"/>
          <p:cNvSpPr/>
          <p:nvPr/>
        </p:nvSpPr>
        <p:spPr>
          <a:xfrm>
            <a:off x="2726575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4" name="Shape 82"/>
          <p:cNvSpPr/>
          <p:nvPr/>
        </p:nvSpPr>
        <p:spPr>
          <a:xfrm>
            <a:off x="3724102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5" name="Shape 83"/>
          <p:cNvSpPr/>
          <p:nvPr/>
        </p:nvSpPr>
        <p:spPr>
          <a:xfrm>
            <a:off x="4721629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6" name="Shape 84"/>
          <p:cNvSpPr/>
          <p:nvPr/>
        </p:nvSpPr>
        <p:spPr>
          <a:xfrm>
            <a:off x="5719156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7" name="Shape 85"/>
          <p:cNvSpPr/>
          <p:nvPr/>
        </p:nvSpPr>
        <p:spPr>
          <a:xfrm>
            <a:off x="6716684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8" name="Shape 86"/>
          <p:cNvSpPr/>
          <p:nvPr/>
        </p:nvSpPr>
        <p:spPr>
          <a:xfrm>
            <a:off x="7714211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9" name="Shape 87"/>
          <p:cNvSpPr/>
          <p:nvPr/>
        </p:nvSpPr>
        <p:spPr>
          <a:xfrm>
            <a:off x="8711738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0" name="Shape 88"/>
          <p:cNvSpPr/>
          <p:nvPr/>
        </p:nvSpPr>
        <p:spPr>
          <a:xfrm>
            <a:off x="9709265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1" name="Shape 89"/>
          <p:cNvSpPr/>
          <p:nvPr/>
        </p:nvSpPr>
        <p:spPr>
          <a:xfrm>
            <a:off x="10706793" y="4489704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2" name="Shape 90"/>
          <p:cNvSpPr/>
          <p:nvPr/>
        </p:nvSpPr>
        <p:spPr>
          <a:xfrm>
            <a:off x="731520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3" name="Shape 91"/>
          <p:cNvSpPr/>
          <p:nvPr/>
        </p:nvSpPr>
        <p:spPr>
          <a:xfrm>
            <a:off x="1729047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4" name="Shape 92"/>
          <p:cNvSpPr/>
          <p:nvPr/>
        </p:nvSpPr>
        <p:spPr>
          <a:xfrm>
            <a:off x="2726575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5" name="Shape 93"/>
          <p:cNvSpPr/>
          <p:nvPr/>
        </p:nvSpPr>
        <p:spPr>
          <a:xfrm>
            <a:off x="3724102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6" name="Shape 94"/>
          <p:cNvSpPr/>
          <p:nvPr/>
        </p:nvSpPr>
        <p:spPr>
          <a:xfrm>
            <a:off x="4721629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7" name="Shape 95"/>
          <p:cNvSpPr/>
          <p:nvPr/>
        </p:nvSpPr>
        <p:spPr>
          <a:xfrm>
            <a:off x="5719156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8" name="Shape 96"/>
          <p:cNvSpPr/>
          <p:nvPr/>
        </p:nvSpPr>
        <p:spPr>
          <a:xfrm>
            <a:off x="6716684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9" name="Shape 97"/>
          <p:cNvSpPr/>
          <p:nvPr/>
        </p:nvSpPr>
        <p:spPr>
          <a:xfrm>
            <a:off x="7714211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0" name="Shape 98"/>
          <p:cNvSpPr/>
          <p:nvPr/>
        </p:nvSpPr>
        <p:spPr>
          <a:xfrm>
            <a:off x="8711738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1" name="Shape 99"/>
          <p:cNvSpPr/>
          <p:nvPr/>
        </p:nvSpPr>
        <p:spPr>
          <a:xfrm>
            <a:off x="9709265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2" name="Shape 100"/>
          <p:cNvSpPr/>
          <p:nvPr/>
        </p:nvSpPr>
        <p:spPr>
          <a:xfrm>
            <a:off x="10706793" y="4928616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3" name="Shape 101"/>
          <p:cNvSpPr/>
          <p:nvPr/>
        </p:nvSpPr>
        <p:spPr>
          <a:xfrm>
            <a:off x="731520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4" name="Shape 102"/>
          <p:cNvSpPr/>
          <p:nvPr/>
        </p:nvSpPr>
        <p:spPr>
          <a:xfrm>
            <a:off x="1729047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5" name="Shape 103"/>
          <p:cNvSpPr/>
          <p:nvPr/>
        </p:nvSpPr>
        <p:spPr>
          <a:xfrm>
            <a:off x="2726575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6" name="Shape 104"/>
          <p:cNvSpPr/>
          <p:nvPr/>
        </p:nvSpPr>
        <p:spPr>
          <a:xfrm>
            <a:off x="3724102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7" name="Shape 105"/>
          <p:cNvSpPr/>
          <p:nvPr/>
        </p:nvSpPr>
        <p:spPr>
          <a:xfrm>
            <a:off x="4721629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8" name="Shape 106"/>
          <p:cNvSpPr/>
          <p:nvPr/>
        </p:nvSpPr>
        <p:spPr>
          <a:xfrm>
            <a:off x="5719156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9" name="Shape 107"/>
          <p:cNvSpPr/>
          <p:nvPr/>
        </p:nvSpPr>
        <p:spPr>
          <a:xfrm>
            <a:off x="6716684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0" name="Shape 108"/>
          <p:cNvSpPr/>
          <p:nvPr/>
        </p:nvSpPr>
        <p:spPr>
          <a:xfrm>
            <a:off x="7714211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1" name="Shape 109"/>
          <p:cNvSpPr/>
          <p:nvPr/>
        </p:nvSpPr>
        <p:spPr>
          <a:xfrm>
            <a:off x="8711738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2" name="Shape 110"/>
          <p:cNvSpPr/>
          <p:nvPr/>
        </p:nvSpPr>
        <p:spPr>
          <a:xfrm>
            <a:off x="9709265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3" name="Shape 111"/>
          <p:cNvSpPr/>
          <p:nvPr/>
        </p:nvSpPr>
        <p:spPr>
          <a:xfrm>
            <a:off x="10706793" y="5367528"/>
            <a:ext cx="997527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4" name="Text 112"/>
          <p:cNvSpPr/>
          <p:nvPr/>
        </p:nvSpPr>
        <p:spPr>
          <a:xfrm>
            <a:off x="777240" y="1490472"/>
            <a:ext cx="9060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Actividad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1729047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S1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2726575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S2</a:t>
            </a:r>
            <a:endParaRPr lang="en-US" sz="1050" dirty="0"/>
          </a:p>
        </p:txBody>
      </p:sp>
      <p:sp>
        <p:nvSpPr>
          <p:cNvPr id="117" name="Text 115"/>
          <p:cNvSpPr/>
          <p:nvPr/>
        </p:nvSpPr>
        <p:spPr>
          <a:xfrm>
            <a:off x="3724102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S3</a:t>
            </a:r>
            <a:endParaRPr lang="en-US" sz="1050" dirty="0"/>
          </a:p>
        </p:txBody>
      </p:sp>
      <p:sp>
        <p:nvSpPr>
          <p:cNvPr id="118" name="Text 116"/>
          <p:cNvSpPr/>
          <p:nvPr/>
        </p:nvSpPr>
        <p:spPr>
          <a:xfrm>
            <a:off x="4721629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S4</a:t>
            </a:r>
            <a:endParaRPr lang="en-US" sz="1050" dirty="0"/>
          </a:p>
        </p:txBody>
      </p:sp>
      <p:sp>
        <p:nvSpPr>
          <p:cNvPr id="119" name="Text 117"/>
          <p:cNvSpPr/>
          <p:nvPr/>
        </p:nvSpPr>
        <p:spPr>
          <a:xfrm>
            <a:off x="5719156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S5</a:t>
            </a:r>
            <a:endParaRPr lang="en-US" sz="1050" dirty="0"/>
          </a:p>
        </p:txBody>
      </p:sp>
      <p:sp>
        <p:nvSpPr>
          <p:cNvPr id="120" name="Text 118"/>
          <p:cNvSpPr/>
          <p:nvPr/>
        </p:nvSpPr>
        <p:spPr>
          <a:xfrm>
            <a:off x="6716684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S6</a:t>
            </a:r>
            <a:endParaRPr lang="en-US" sz="1050" dirty="0"/>
          </a:p>
        </p:txBody>
      </p:sp>
      <p:sp>
        <p:nvSpPr>
          <p:cNvPr id="121" name="Text 119"/>
          <p:cNvSpPr/>
          <p:nvPr/>
        </p:nvSpPr>
        <p:spPr>
          <a:xfrm>
            <a:off x="7714211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S7</a:t>
            </a:r>
            <a:endParaRPr lang="en-US" sz="1050" dirty="0"/>
          </a:p>
        </p:txBody>
      </p:sp>
      <p:sp>
        <p:nvSpPr>
          <p:cNvPr id="122" name="Text 120"/>
          <p:cNvSpPr/>
          <p:nvPr/>
        </p:nvSpPr>
        <p:spPr>
          <a:xfrm>
            <a:off x="8711738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S8</a:t>
            </a:r>
            <a:endParaRPr lang="en-US" sz="1050" dirty="0"/>
          </a:p>
        </p:txBody>
      </p:sp>
      <p:sp>
        <p:nvSpPr>
          <p:cNvPr id="123" name="Text 121"/>
          <p:cNvSpPr/>
          <p:nvPr/>
        </p:nvSpPr>
        <p:spPr>
          <a:xfrm>
            <a:off x="9709265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S9</a:t>
            </a:r>
            <a:endParaRPr lang="en-US" sz="1050" dirty="0"/>
          </a:p>
        </p:txBody>
      </p:sp>
      <p:sp>
        <p:nvSpPr>
          <p:cNvPr id="124" name="Text 122"/>
          <p:cNvSpPr/>
          <p:nvPr/>
        </p:nvSpPr>
        <p:spPr>
          <a:xfrm>
            <a:off x="10706793" y="1490472"/>
            <a:ext cx="9975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S10</a:t>
            </a:r>
            <a:endParaRPr lang="en-US" sz="1050" dirty="0"/>
          </a:p>
        </p:txBody>
      </p:sp>
      <p:sp>
        <p:nvSpPr>
          <p:cNvPr id="125" name="Text 123"/>
          <p:cNvSpPr/>
          <p:nvPr/>
        </p:nvSpPr>
        <p:spPr>
          <a:xfrm>
            <a:off x="777240" y="1901952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Definición del problema y alcance</a:t>
            </a:r>
            <a:endParaRPr lang="en-US" sz="960" dirty="0"/>
          </a:p>
        </p:txBody>
      </p:sp>
      <p:sp>
        <p:nvSpPr>
          <p:cNvPr id="126" name="Text 124"/>
          <p:cNvSpPr/>
          <p:nvPr/>
        </p:nvSpPr>
        <p:spPr>
          <a:xfrm>
            <a:off x="777240" y="2340864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Diseño de arquitectura y entorno de laboratorio</a:t>
            </a:r>
            <a:endParaRPr lang="en-US" sz="960" dirty="0"/>
          </a:p>
        </p:txBody>
      </p:sp>
      <p:sp>
        <p:nvSpPr>
          <p:cNvPr id="127" name="Text 125"/>
          <p:cNvSpPr/>
          <p:nvPr/>
        </p:nvSpPr>
        <p:spPr>
          <a:xfrm>
            <a:off x="777240" y="2779776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Diseño del modelo de datos</a:t>
            </a:r>
            <a:endParaRPr lang="en-US" sz="960" dirty="0"/>
          </a:p>
        </p:txBody>
      </p:sp>
      <p:sp>
        <p:nvSpPr>
          <p:cNvPr id="128" name="Text 126"/>
          <p:cNvSpPr/>
          <p:nvPr/>
        </p:nvSpPr>
        <p:spPr>
          <a:xfrm>
            <a:off x="777240" y="3218688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Integración del módulo de reconocimiento</a:t>
            </a:r>
            <a:endParaRPr lang="en-US" sz="960" dirty="0"/>
          </a:p>
        </p:txBody>
      </p:sp>
      <p:sp>
        <p:nvSpPr>
          <p:cNvPr id="129" name="Text 127"/>
          <p:cNvSpPr/>
          <p:nvPr/>
        </p:nvSpPr>
        <p:spPr>
          <a:xfrm>
            <a:off x="777240" y="3657600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Integración del módulo de escaneo</a:t>
            </a:r>
            <a:endParaRPr lang="en-US" sz="960" dirty="0"/>
          </a:p>
        </p:txBody>
      </p:sp>
      <p:sp>
        <p:nvSpPr>
          <p:cNvPr id="130" name="Text 128"/>
          <p:cNvSpPr/>
          <p:nvPr/>
        </p:nvSpPr>
        <p:spPr>
          <a:xfrm>
            <a:off x="777240" y="4096512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Desarrollo del módulo de análisis con IA</a:t>
            </a:r>
            <a:endParaRPr lang="en-US" sz="960" dirty="0"/>
          </a:p>
        </p:txBody>
      </p:sp>
      <p:sp>
        <p:nvSpPr>
          <p:cNvPr id="131" name="Text 129"/>
          <p:cNvSpPr/>
          <p:nvPr/>
        </p:nvSpPr>
        <p:spPr>
          <a:xfrm>
            <a:off x="777240" y="4535424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Implementación de reportería y visualización</a:t>
            </a:r>
            <a:endParaRPr lang="en-US" sz="960" dirty="0"/>
          </a:p>
        </p:txBody>
      </p:sp>
      <p:sp>
        <p:nvSpPr>
          <p:cNvPr id="132" name="Text 130"/>
          <p:cNvSpPr/>
          <p:nvPr/>
        </p:nvSpPr>
        <p:spPr>
          <a:xfrm>
            <a:off x="777240" y="4974336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Validación experimental en laboratorio</a:t>
            </a:r>
            <a:endParaRPr lang="en-US" sz="960" dirty="0"/>
          </a:p>
        </p:txBody>
      </p:sp>
      <p:sp>
        <p:nvSpPr>
          <p:cNvPr id="133" name="Text 131"/>
          <p:cNvSpPr/>
          <p:nvPr/>
        </p:nvSpPr>
        <p:spPr>
          <a:xfrm>
            <a:off x="777240" y="5413248"/>
            <a:ext cx="924375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2937"/>
                </a:solidFill>
              </a:rPr>
              <a:t>Ajustes finales y pruebas</a:t>
            </a:r>
            <a:endParaRPr lang="en-US" sz="960" dirty="0"/>
          </a:p>
        </p:txBody>
      </p:sp>
      <p:sp>
        <p:nvSpPr>
          <p:cNvPr id="134" name="Shape 132"/>
          <p:cNvSpPr/>
          <p:nvPr/>
        </p:nvSpPr>
        <p:spPr>
          <a:xfrm>
            <a:off x="1765623" y="1929384"/>
            <a:ext cx="924375" cy="292608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5" name="Shape 133"/>
          <p:cNvSpPr/>
          <p:nvPr/>
        </p:nvSpPr>
        <p:spPr>
          <a:xfrm>
            <a:off x="1765623" y="2368296"/>
            <a:ext cx="924375" cy="292608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6" name="Shape 134"/>
          <p:cNvSpPr/>
          <p:nvPr/>
        </p:nvSpPr>
        <p:spPr>
          <a:xfrm>
            <a:off x="2763151" y="2368296"/>
            <a:ext cx="924375" cy="292608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7" name="Shape 135"/>
          <p:cNvSpPr/>
          <p:nvPr/>
        </p:nvSpPr>
        <p:spPr>
          <a:xfrm>
            <a:off x="2763151" y="2807208"/>
            <a:ext cx="924375" cy="292608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8" name="Shape 136"/>
          <p:cNvSpPr/>
          <p:nvPr/>
        </p:nvSpPr>
        <p:spPr>
          <a:xfrm>
            <a:off x="3760678" y="3246120"/>
            <a:ext cx="924375" cy="292608"/>
          </a:xfrm>
          <a:prstGeom prst="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9" name="Shape 137"/>
          <p:cNvSpPr/>
          <p:nvPr/>
        </p:nvSpPr>
        <p:spPr>
          <a:xfrm>
            <a:off x="4758205" y="3246120"/>
            <a:ext cx="924375" cy="292608"/>
          </a:xfrm>
          <a:prstGeom prst="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0" name="Shape 138"/>
          <p:cNvSpPr/>
          <p:nvPr/>
        </p:nvSpPr>
        <p:spPr>
          <a:xfrm>
            <a:off x="4758205" y="3685032"/>
            <a:ext cx="924375" cy="292608"/>
          </a:xfrm>
          <a:prstGeom prst="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1" name="Shape 139"/>
          <p:cNvSpPr/>
          <p:nvPr/>
        </p:nvSpPr>
        <p:spPr>
          <a:xfrm>
            <a:off x="5755732" y="3685032"/>
            <a:ext cx="924375" cy="292608"/>
          </a:xfrm>
          <a:prstGeom prst="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2" name="Shape 140"/>
          <p:cNvSpPr/>
          <p:nvPr/>
        </p:nvSpPr>
        <p:spPr>
          <a:xfrm>
            <a:off x="5755732" y="4123944"/>
            <a:ext cx="924375" cy="292608"/>
          </a:xfrm>
          <a:prstGeom prst="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3" name="Shape 141"/>
          <p:cNvSpPr/>
          <p:nvPr/>
        </p:nvSpPr>
        <p:spPr>
          <a:xfrm>
            <a:off x="6753260" y="4123944"/>
            <a:ext cx="924375" cy="292608"/>
          </a:xfrm>
          <a:prstGeom prst="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4" name="Shape 142"/>
          <p:cNvSpPr/>
          <p:nvPr/>
        </p:nvSpPr>
        <p:spPr>
          <a:xfrm>
            <a:off x="7750787" y="4123944"/>
            <a:ext cx="924375" cy="292608"/>
          </a:xfrm>
          <a:prstGeom prst="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5" name="Shape 143"/>
          <p:cNvSpPr/>
          <p:nvPr/>
        </p:nvSpPr>
        <p:spPr>
          <a:xfrm>
            <a:off x="7750787" y="4562856"/>
            <a:ext cx="924375" cy="292608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6" name="Shape 144"/>
          <p:cNvSpPr/>
          <p:nvPr/>
        </p:nvSpPr>
        <p:spPr>
          <a:xfrm>
            <a:off x="8748314" y="4562856"/>
            <a:ext cx="924375" cy="292608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7" name="Shape 145"/>
          <p:cNvSpPr/>
          <p:nvPr/>
        </p:nvSpPr>
        <p:spPr>
          <a:xfrm>
            <a:off x="8748314" y="5001768"/>
            <a:ext cx="924375" cy="292608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8" name="Shape 146"/>
          <p:cNvSpPr/>
          <p:nvPr/>
        </p:nvSpPr>
        <p:spPr>
          <a:xfrm>
            <a:off x="9745841" y="5001768"/>
            <a:ext cx="924375" cy="292608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9" name="Shape 147"/>
          <p:cNvSpPr/>
          <p:nvPr/>
        </p:nvSpPr>
        <p:spPr>
          <a:xfrm>
            <a:off x="9745841" y="5440680"/>
            <a:ext cx="924375" cy="292608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0" name="Shape 148"/>
          <p:cNvSpPr/>
          <p:nvPr/>
        </p:nvSpPr>
        <p:spPr>
          <a:xfrm>
            <a:off x="10743369" y="5440680"/>
            <a:ext cx="924375" cy="292608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1" name="Text 149"/>
          <p:cNvSpPr/>
          <p:nvPr/>
        </p:nvSpPr>
        <p:spPr>
          <a:xfrm>
            <a:off x="868680" y="59893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Hito: flujo funcional end-to-end validado en laboratorio y documentado</a:t>
            </a:r>
            <a:endParaRPr lang="en-US" sz="1400" dirty="0"/>
          </a:p>
        </p:txBody>
      </p:sp>
      <p:sp>
        <p:nvSpPr>
          <p:cNvPr id="152" name="Text 150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del software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funcional orientada a resolver fragmentación, análisis y reportería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96112" y="254203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Herramientas de seguridad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2926080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Nmap · Nuclei · reconocimiento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0" y="2880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97480" y="23774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770632" y="254203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Recolección de hallazgos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70632" y="2926080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Obtención de evidencia técnica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43400" y="2880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0" y="23774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645152" y="254203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Normalización de evidencia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45152" y="2926080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Conversión a un formato común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2880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519672" y="254203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Análisis con 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9672" y="2926080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Interpretación, clasificación y contexto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92440" y="2880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321040" y="23774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8394192" y="254203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Mapeo a MITRE ATT&amp;CK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94192" y="2926080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Tácticas y técnicas asociadas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966960" y="2880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195560" y="237744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10268712" y="254203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Priorización y reporte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268712" y="2926080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Severidad, recomendaciones y PDF/dashboard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97280" y="434340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1097280" y="4343400"/>
            <a:ext cx="10972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1298448" y="4471416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Sentido de la arquitectura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98448" y="4745736"/>
            <a:ext cx="9555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La arquitectura organiza el sistema como un flujo que transforma resultados técnicos aislados en información correlacionada, priorizada y útil para apoyar el análisis de seguridad en entornos controlados.</a:t>
            </a:r>
            <a:endParaRPr lang="en-US" sz="1063" dirty="0"/>
          </a:p>
        </p:txBody>
      </p:sp>
      <p:sp>
        <p:nvSpPr>
          <p:cNvPr id="31" name="Text 29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datos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pensada para correlacionar hallazgos y soportar reportería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972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32688" y="14538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Activo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72821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Objetivo o sistema analizado</a:t>
            </a:r>
            <a:endParaRPr lang="en-US" sz="1063" dirty="0"/>
          </a:p>
        </p:txBody>
      </p:sp>
      <p:sp>
        <p:nvSpPr>
          <p:cNvPr id="8" name="Shape 6"/>
          <p:cNvSpPr/>
          <p:nvPr/>
        </p:nvSpPr>
        <p:spPr>
          <a:xfrm>
            <a:off x="3611880" y="13258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3611880" y="1325880"/>
            <a:ext cx="10972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813048" y="14538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Hallazgo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3048" y="172821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Resultado detectado por una herramienta</a:t>
            </a:r>
            <a:endParaRPr lang="en-US" sz="1063" dirty="0"/>
          </a:p>
        </p:txBody>
      </p:sp>
      <p:sp>
        <p:nvSpPr>
          <p:cNvPr id="12" name="Shape 10"/>
          <p:cNvSpPr/>
          <p:nvPr/>
        </p:nvSpPr>
        <p:spPr>
          <a:xfrm>
            <a:off x="6492240" y="13258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492240" y="1325880"/>
            <a:ext cx="10972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693408" y="14538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Evidencia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93408" y="172821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Detalle técnico asociado al hallazgo</a:t>
            </a:r>
            <a:endParaRPr lang="en-US" sz="1063" dirty="0"/>
          </a:p>
        </p:txBody>
      </p:sp>
      <p:sp>
        <p:nvSpPr>
          <p:cNvPr id="16" name="Shape 14"/>
          <p:cNvSpPr/>
          <p:nvPr/>
        </p:nvSpPr>
        <p:spPr>
          <a:xfrm>
            <a:off x="9372600" y="13258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9372600" y="1325880"/>
            <a:ext cx="10972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9573768" y="14538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Técnica ATT&amp;CK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73768" y="172821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Táctica o técnica relacionada</a:t>
            </a:r>
            <a:endParaRPr lang="en-US" sz="1063" dirty="0"/>
          </a:p>
        </p:txBody>
      </p:sp>
      <p:sp>
        <p:nvSpPr>
          <p:cNvPr id="20" name="Shape 18"/>
          <p:cNvSpPr/>
          <p:nvPr/>
        </p:nvSpPr>
        <p:spPr>
          <a:xfrm>
            <a:off x="2148840" y="288036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2148840" y="2880360"/>
            <a:ext cx="109728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2350008" y="30083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Severidad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350008" y="328269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9" dirty="0">
                <a:solidFill>
                  <a:srgbClr val="1F2937"/>
                </a:solidFill>
              </a:rPr>
              <a:t>Nivel de criticidad asignado</a:t>
            </a:r>
            <a:endParaRPr lang="en-US" sz="1069" dirty="0"/>
          </a:p>
        </p:txBody>
      </p:sp>
      <p:sp>
        <p:nvSpPr>
          <p:cNvPr id="24" name="Shape 22"/>
          <p:cNvSpPr/>
          <p:nvPr/>
        </p:nvSpPr>
        <p:spPr>
          <a:xfrm>
            <a:off x="5029200" y="288036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5029200" y="2880360"/>
            <a:ext cx="109728" cy="10972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5230368" y="30083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Ejecución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30368" y="328269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Registro de cada análisis realizado</a:t>
            </a:r>
            <a:endParaRPr lang="en-US" sz="1063" dirty="0"/>
          </a:p>
        </p:txBody>
      </p:sp>
      <p:sp>
        <p:nvSpPr>
          <p:cNvPr id="28" name="Shape 26"/>
          <p:cNvSpPr/>
          <p:nvPr/>
        </p:nvSpPr>
        <p:spPr>
          <a:xfrm>
            <a:off x="7909560" y="288036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7909560" y="2880360"/>
            <a:ext cx="10972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8110728" y="30083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Reporte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10728" y="328269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Consolidado final de resultados</a:t>
            </a:r>
            <a:endParaRPr lang="en-US" sz="1063" dirty="0"/>
          </a:p>
        </p:txBody>
      </p:sp>
      <p:sp>
        <p:nvSpPr>
          <p:cNvPr id="32" name="Shape 30"/>
          <p:cNvSpPr/>
          <p:nvPr/>
        </p:nvSpPr>
        <p:spPr>
          <a:xfrm>
            <a:off x="822960" y="4754880"/>
            <a:ext cx="10789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822960" y="4754880"/>
            <a:ext cx="109728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1024128" y="4882896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Propósito del modelo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24128" y="5157216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Permite pasar desde resultados técnicos aislados a información correlacionada y útil para el análisis de seguridad.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Tecnologías utilizadas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orientado a integración, análisis asistido por IA y generación de reportes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972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78408" y="15453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Python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181965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Lógica principal del sistema</a:t>
            </a:r>
            <a:endParaRPr lang="en-US" sz="1247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109728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681728" y="15453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FastAPI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81728" y="181965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Servicios y comunicación interna</a:t>
            </a:r>
            <a:endParaRPr lang="en-US" sz="1247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109728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8385048" y="15453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Nmap / Nuclei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5048" y="181965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Obtención de hallazgos</a:t>
            </a:r>
            <a:endParaRPr lang="en-US" sz="1247" dirty="0"/>
          </a:p>
        </p:txBody>
      </p:sp>
      <p:sp>
        <p:nvSpPr>
          <p:cNvPr id="16" name="Shape 14"/>
          <p:cNvSpPr/>
          <p:nvPr/>
        </p:nvSpPr>
        <p:spPr>
          <a:xfrm>
            <a:off x="777240" y="292608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777240" y="2926080"/>
            <a:ext cx="109728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978408" y="3054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MITRE ATT&amp;CK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78408" y="332841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Marco de referencia</a:t>
            </a:r>
            <a:endParaRPr lang="en-US" sz="1247" dirty="0"/>
          </a:p>
        </p:txBody>
      </p:sp>
      <p:sp>
        <p:nvSpPr>
          <p:cNvPr id="20" name="Shape 18"/>
          <p:cNvSpPr/>
          <p:nvPr/>
        </p:nvSpPr>
        <p:spPr>
          <a:xfrm>
            <a:off x="4480560" y="292608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4480560" y="2926080"/>
            <a:ext cx="109728" cy="1170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681728" y="3054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LLM / IA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81728" y="332841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Interpretación y reportería</a:t>
            </a:r>
            <a:endParaRPr lang="en-US" sz="1247" dirty="0"/>
          </a:p>
        </p:txBody>
      </p:sp>
      <p:sp>
        <p:nvSpPr>
          <p:cNvPr id="24" name="Shape 22"/>
          <p:cNvSpPr/>
          <p:nvPr/>
        </p:nvSpPr>
        <p:spPr>
          <a:xfrm>
            <a:off x="8183880" y="292608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183880" y="2926080"/>
            <a:ext cx="109728" cy="11704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8385048" y="3054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Base de datos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85048" y="332841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Persistencia de hallazgos</a:t>
            </a:r>
            <a:endParaRPr lang="en-US" sz="1247" dirty="0"/>
          </a:p>
        </p:txBody>
      </p:sp>
      <p:sp>
        <p:nvSpPr>
          <p:cNvPr id="28" name="Shape 26"/>
          <p:cNvSpPr/>
          <p:nvPr/>
        </p:nvSpPr>
        <p:spPr>
          <a:xfrm>
            <a:off x="777240" y="443484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777240" y="4434840"/>
            <a:ext cx="10972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978408" y="45628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PDF / Dashboard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8408" y="483717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7" dirty="0">
                <a:solidFill>
                  <a:srgbClr val="1F2937"/>
                </a:solidFill>
              </a:rPr>
              <a:t>Visualización y entrega de resultados</a:t>
            </a:r>
            <a:endParaRPr lang="en-US" sz="1247" dirty="0"/>
          </a:p>
        </p:txBody>
      </p:sp>
      <p:sp>
        <p:nvSpPr>
          <p:cNvPr id="32" name="Text 30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Demostración del resultado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esperado de la ejecución del prototipo en laboratorio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1453896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23544" y="152704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25880" y="152704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Ingreso de objetivo autorizado o caso de prueba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075688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822960" y="211226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23544" y="218541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25880" y="2185416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Ejecución de herramientas de reconocimiento y escaneo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2734056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822960" y="277063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923544" y="284378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25880" y="2843784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Consolidación de hallazgos obtenidos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3392424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923544" y="35021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25880" y="3502152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Interpretación asistida por IA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050792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2960" y="408736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923544" y="416052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25880" y="4160520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Relación de hallazgos con MITRE ATT&amp;CK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4709160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22960" y="4745736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923544" y="48188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25880" y="481888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Priorización del riesgo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14400" y="5367528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22960" y="540410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923544" y="547725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325880" y="5477256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Generación de reporte técnico y ejecutivo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obtenidos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enfatiza qué problema se resolvió y qué valor aporta el prototipo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972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78408" y="15453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Consolidación de hallazgos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181965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Se redujo la fragmentación de resultados técnicos en una sola vista de análisis.</a:t>
            </a:r>
            <a:endParaRPr lang="en-US" sz="1063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10972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464808" y="15453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Correlación con MITRE ATT&amp;CK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4808" y="181965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6" dirty="0">
                <a:solidFill>
                  <a:srgbClr val="1F2937"/>
                </a:solidFill>
              </a:rPr>
              <a:t>Se logró relacionar evidencia técnica con tácticas y técnicas relevantes.</a:t>
            </a:r>
            <a:endParaRPr lang="en-US" sz="1116" dirty="0"/>
          </a:p>
        </p:txBody>
      </p:sp>
      <p:sp>
        <p:nvSpPr>
          <p:cNvPr id="12" name="Shape 10"/>
          <p:cNvSpPr/>
          <p:nvPr/>
        </p:nvSpPr>
        <p:spPr>
          <a:xfrm>
            <a:off x="777240" y="283464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777240" y="2834640"/>
            <a:ext cx="10972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978408" y="29626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Priorización asistida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8408" y="32369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3" dirty="0">
                <a:solidFill>
                  <a:srgbClr val="1F2937"/>
                </a:solidFill>
              </a:rPr>
              <a:t>Los hallazgos pueden ordenarse según criticidad, contexto y posible vector de ataque.</a:t>
            </a:r>
            <a:endParaRPr lang="en-US" sz="1063" dirty="0"/>
          </a:p>
        </p:txBody>
      </p:sp>
      <p:sp>
        <p:nvSpPr>
          <p:cNvPr id="16" name="Shape 14"/>
          <p:cNvSpPr/>
          <p:nvPr/>
        </p:nvSpPr>
        <p:spPr>
          <a:xfrm>
            <a:off x="6263640" y="283464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263640" y="2834640"/>
            <a:ext cx="10972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464808" y="29626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Reportería consistente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4808" y="32369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8" dirty="0">
                <a:solidFill>
                  <a:srgbClr val="1F2937"/>
                </a:solidFill>
              </a:rPr>
              <a:t>Se habilita generación de reportes más estructurados y homogéneos.</a:t>
            </a:r>
            <a:endParaRPr lang="en-US" sz="1128" dirty="0"/>
          </a:p>
        </p:txBody>
      </p:sp>
      <p:sp>
        <p:nvSpPr>
          <p:cNvPr id="20" name="Shape 18"/>
          <p:cNvSpPr/>
          <p:nvPr/>
        </p:nvSpPr>
        <p:spPr>
          <a:xfrm>
            <a:off x="777240" y="425196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777240" y="4251960"/>
            <a:ext cx="109728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978408" y="43799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Validación en laboratorio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8408" y="465429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6" dirty="0">
                <a:solidFill>
                  <a:srgbClr val="1F2937"/>
                </a:solidFill>
              </a:rPr>
              <a:t>El sistema se orienta a pruebas controladas y resultados demostrables.</a:t>
            </a:r>
            <a:endParaRPr lang="en-US" sz="1106" dirty="0"/>
          </a:p>
        </p:txBody>
      </p:sp>
      <p:sp>
        <p:nvSpPr>
          <p:cNvPr id="24" name="Text 22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Obstáculos presentados durante el desarrollo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Principales desafíos técnicos y de gestión detectados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024128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extensos y heterogéneos de las herramientas integradas.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Complejidad para normalizar resultados en distintos formatos.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 para definir reglas de mapeo a MITRE ATT&amp;CK.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 de acotar alcance para cumplir con el plazo disponible.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Coordinación del laboratorio y validación experimental.
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Dependencia de APIs o servicios externos para algunas funciones.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4892040"/>
            <a:ext cx="10058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960120" y="4892040"/>
            <a:ext cx="109728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161288" y="502005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Aprendizaje principal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1288" y="5294376"/>
            <a:ext cx="9738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El mayor desafío no fue solo construir la solución, sino definir un alcance realista que permitiera demostrar valor sobre el problema identificado.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4688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la comisión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333756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</a:rPr>
              <a:t>ETH-MAS · Plataforma asistida por IA para análisis de hallazgos de seguridad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886200" y="3840480"/>
            <a:ext cx="43891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156716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1782</Words>
  <Application>Microsoft Office PowerPoint</Application>
  <PresentationFormat>Panorámica</PresentationFormat>
  <Paragraphs>238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ETH-MAS - Presentación final</dc:title>
  <dc:subject>ETH-MAS proyecto capstone</dc:subject>
  <dc:creator>OpenAI</dc:creator>
  <cp:lastModifiedBy>YERSON . MOLINA MOLINA</cp:lastModifiedBy>
  <cp:revision>2</cp:revision>
  <dcterms:created xsi:type="dcterms:W3CDTF">2026-04-14T22:00:05Z</dcterms:created>
  <dcterms:modified xsi:type="dcterms:W3CDTF">2026-04-14T22:08:23Z</dcterms:modified>
</cp:coreProperties>
</file>