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157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estructurado a partir de ETH_MAS_Definicion_Proyecto.pptx y Formato Presentación final.pptx aportados por 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Rolificación elaborada a partir del contenido de metodología y división de trabajo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Problemas P1, P2 y P3 y descripción del proyecto tomados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Objetivo general y objetivos específicos adaptados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Factibilidad y delimitación del prototipo tomadas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Metodología iterativa e incremental y división del trabajo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Cronograma derivado de Plan de trabajo — 10 semanas del archivo ETH_MAS_Definicion_Proyecto.pptx y adaptado al formato final aportado por 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Arquitectura y módulos adaptados de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Modelo de datos derivado del enfoque del proyecto y de la estructura funcional del documento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Tecnologías basadas en ETH_MAS_Definicion_Proyecto.pptx y ajustadas a la narrativa final del proyecto.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Flujo de demostración construido a partir de la arquitectura y objetivos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Resultados formulados a partir de las evidencias de logro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Obstaculizadores y ajustes de alcance derivados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Lámina de cierre basada en el formato final aportado por 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822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ETH-MAS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143000"/>
            <a:ext cx="107899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164592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ETH-MAS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asistida por IA para el análisis de hallazgos de seguridad basados en MITRE ATT&amp;CK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Presentación final Capstone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Ingeniería en Informática · PTY4614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72600" y="41605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</a:rPr>
              <a:t>Equipo de proyecto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F172A"/>
                </a:solidFill>
              </a:rPr>
              <a:t>David Garrido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0F172A"/>
                </a:solidFill>
              </a:rPr>
              <a:t>Rodrigo </a:t>
            </a:r>
            <a:r>
              <a:rPr lang="en-US" sz="1300" dirty="0" err="1">
                <a:solidFill>
                  <a:srgbClr val="0F172A"/>
                </a:solidFill>
              </a:rPr>
              <a:t>Santibañez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 err="1">
                <a:solidFill>
                  <a:srgbClr val="0F172A"/>
                </a:solidFill>
              </a:rPr>
              <a:t>Yerson</a:t>
            </a:r>
            <a:r>
              <a:rPr lang="en-US" sz="1300" dirty="0">
                <a:solidFill>
                  <a:srgbClr val="0F172A"/>
                </a:solidFill>
              </a:rPr>
              <a:t> Molina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pic>
        <p:nvPicPr>
          <p:cNvPr id="11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CA012E96-1D70-9922-AE8F-62258FC3E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817" y="114300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Integrantes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 de roles y responsabilidades principales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9728" cy="4389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86968" y="145389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David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728216"/>
            <a:ext cx="306324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Cargo: Arquitectura y backend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Funciones: Diseño de arquitectura general, coordinación del flujo principal del sistema, desarrollo de API y gestión de integración entre módulos.</a:t>
            </a:r>
            <a:endParaRPr lang="en-US" sz="1247" dirty="0"/>
          </a:p>
        </p:txBody>
      </p:sp>
      <p:sp>
        <p:nvSpPr>
          <p:cNvPr id="8" name="Shape 6"/>
          <p:cNvSpPr/>
          <p:nvPr/>
        </p:nvSpPr>
        <p:spPr>
          <a:xfrm>
            <a:off x="452628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109728" cy="4389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727448" y="145389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F172A"/>
                </a:solidFill>
              </a:rPr>
              <a:t>Yerson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1728216"/>
            <a:ext cx="306324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Cargo: Integración de herramientas de seguridad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Funciones: Implementación de reconocimiento y escaneo, integración de herramientas técnicas y procesamiento inicial de resultados.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836676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366760" y="1325880"/>
            <a:ext cx="109728" cy="4389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567928" y="145389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Rodrigo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67928" y="1728216"/>
            <a:ext cx="306324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Cargo: Análisis con IA y reportería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Funciones: Desarrollo del módulo de análisis y clasificación, mapeo a MITRE ATT&amp;CK, generación de reportes y apoyo en visualización.</a:t>
            </a:r>
            <a:endParaRPr lang="en-US" sz="1247" dirty="0"/>
          </a:p>
        </p:txBody>
      </p:sp>
      <p:sp>
        <p:nvSpPr>
          <p:cNvPr id="16" name="Text 1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Descripción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se centra primero en el problema, luego en la propuesta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41248" y="120700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Problema o dolor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5080" y="1143000"/>
            <a:ext cx="224028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464808" y="1207008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Propuesta de solución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109728" cy="4434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32688" y="16367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Problema o dolor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1911096"/>
            <a:ext cx="484632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En los procesos de análisis de seguridad informática, herramientas como escáneres de puertos, detectores de vulnerabilidades y utilidades de reconocimiento generan gran volumen de información técnica. Estos resultados suelen presentarse de forma fragmentada, heterogénea y con ruido, obligando a un análisis manual intensivo para distinguir qué hallazgos representan un riesgo real.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Además, muchos hallazgos no se relacionan directamente con marcos como MITRE ATT&amp;CK, lo que dificulta interpretar su rol dentro de una posible cadena de ataque y afecta la priorización del riesgo y la consistencia de los reportes.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355080" y="1508760"/>
            <a:ext cx="109728" cy="4434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556248" y="16367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Propuesta de solución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1911096"/>
            <a:ext cx="480060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Desarrollar una plataforma asistida por IA que consolide hallazgos obtenidos desde herramientas de reconocimiento y escaneo, los interprete automáticamente, los relacione con MITRE ATT&amp;CK e identifique patrones y vectores de ataque en entornos controlados.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A partir de ello, el sistema genera reportes priorizados que apoyan el análisis de seguridad y mejoran la consistencia de los resultados entregados.</a:t>
            </a:r>
            <a:endParaRPr lang="en-US" sz="1247" dirty="0"/>
          </a:p>
        </p:txBody>
      </p:sp>
      <p:sp>
        <p:nvSpPr>
          <p:cNvPr id="16" name="Text 1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Definen el alcance funcional del prototipo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32688" y="140817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Objetivo general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682496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Desarrollar una plataforma asistida por IA para identificar patrones y vectores de ataque a partir de hallazgos de seguridad, relacionándolos con MITRE ATT&amp;CK y generando reportes priorizados en entornos controlados.</a:t>
            </a:r>
            <a:endParaRPr lang="en-US" sz="1063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41248" y="276148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Objetivos específicos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1060704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herramientas de reconocimiento y escaneo para recolectar evidencia técnica desde objetivos </a:t>
            </a:r>
            <a:r>
              <a:rPr lang="en-US" sz="17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autorizados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un modelo de datos para normalizar hallazgos provenientes de distintas </a:t>
            </a:r>
            <a:r>
              <a:rPr lang="en-US" sz="17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 un módulo de IA capaz de interpretar hallazgos y asociarlos a tácticas y técnicas de MITRE ATT&amp;CK.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patrones y posibles vectores de ataque a partir de la evidencia </a:t>
            </a:r>
            <a:r>
              <a:rPr lang="en-US" sz="17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recopilada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hallazgos y generar reportes automáticos con evidencia y </a:t>
            </a:r>
            <a:r>
              <a:rPr lang="en-US" sz="17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recomendaciones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la plataforma en un entorno de laboratorio controlado.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Alcances y limitaciones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acota el prototipo para hacerlo viable en el plazo definido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86968" y="1207008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Alcances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5080" y="114300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464808" y="120700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Limitaciones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109728" cy="4480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78408" y="16367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Alcances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1911096"/>
            <a:ext cx="47548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Integración de herramientas de reconocimiento y escaneo.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Recolección y normalización de hallazgos técnicos.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Análisis asistido por IA sobre evidencia obtenida.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Relación de hallazgos con MITRE ATT&amp;CK.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Identificación de patrones y vectores de ataque.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Priorización de riesgos y generación automática de reportes.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Validación en entorno de laboratorio controlado.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355080" y="1508760"/>
            <a:ext cx="109728" cy="4480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556248" y="16367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Limitaciones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1911096"/>
            <a:ext cx="47548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Restringido a entornos autorizados y de laboratorio.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No contempla explotación destructiva real.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No incluye post-explotación avanzada.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No cubre la totalidad de la matriz MITRE ATT&amp;CK.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La calidad del análisis depende de la evidencia entregada por las herramientas integradas.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Se enfoca en un prototipo académico, no en una solución empresarial completa.</a:t>
            </a:r>
            <a:endParaRPr lang="en-US" sz="1247" dirty="0"/>
          </a:p>
        </p:txBody>
      </p:sp>
      <p:sp>
        <p:nvSpPr>
          <p:cNvPr id="16" name="Text 1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de trabajo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iterativo e incremental con validación continua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972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32688" y="136245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Enfoque metodológico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636776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El proyecto se desarrolló mediante una metodología iterativa e incremental, priorizando la construcción de un flujo funcional de extremo a extremo por sobre la implementación de funcionalidades aisladas. Este enfoque permitió integrar progresivamente los módulos, validar resultados en cada etapa y ajustar el alcance según la factibilidad técnica y temporal del equipo.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109728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2412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1. Definición del problema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Levantamiento de necesidades, alcance y criterios de validación.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306324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063240" y="2651760"/>
            <a:ext cx="109728" cy="2468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26440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2. Diseño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Arquitectura, modelo de datos y entorno de laboratorio.</a:t>
            </a:r>
            <a:endParaRPr lang="en-US" sz="1247" dirty="0"/>
          </a:p>
        </p:txBody>
      </p:sp>
      <p:sp>
        <p:nvSpPr>
          <p:cNvPr id="16" name="Shape 14"/>
          <p:cNvSpPr/>
          <p:nvPr/>
        </p:nvSpPr>
        <p:spPr>
          <a:xfrm>
            <a:off x="530352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303520" y="2651760"/>
            <a:ext cx="109728" cy="2468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50468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3. Integración técnica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0468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Herramientas de reconocimiento y escaneo.</a:t>
            </a:r>
            <a:endParaRPr lang="en-US" sz="1247" dirty="0"/>
          </a:p>
        </p:txBody>
      </p:sp>
      <p:sp>
        <p:nvSpPr>
          <p:cNvPr id="20" name="Shape 18"/>
          <p:cNvSpPr/>
          <p:nvPr/>
        </p:nvSpPr>
        <p:spPr>
          <a:xfrm>
            <a:off x="754380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7543800" y="2651760"/>
            <a:ext cx="109728" cy="2468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774496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4. Inteligencia aplicada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4496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Módulo IA para interpretación, clasificación y priorización.</a:t>
            </a:r>
            <a:endParaRPr lang="en-US" sz="1247" dirty="0"/>
          </a:p>
        </p:txBody>
      </p:sp>
      <p:sp>
        <p:nvSpPr>
          <p:cNvPr id="24" name="Shape 22"/>
          <p:cNvSpPr/>
          <p:nvPr/>
        </p:nvSpPr>
        <p:spPr>
          <a:xfrm>
            <a:off x="978408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9784080" y="2651760"/>
            <a:ext cx="109728" cy="2468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998524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5. Validación y cierre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8524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Reportería, pruebas, ajustes, documentación y defensa.</a:t>
            </a:r>
            <a:endParaRPr lang="en-US" sz="1247" dirty="0"/>
          </a:p>
        </p:txBody>
      </p:sp>
      <p:sp>
        <p:nvSpPr>
          <p:cNvPr id="28" name="Text 26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Cronograma para el desarrollo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general de trabajo para 10 semanas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729047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26575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724102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4721629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719156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716684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7714211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8711738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9709265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10706793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31520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1729047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2726575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3724102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721629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719156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716684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7714211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711738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9709265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10706793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731520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1729047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2726575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3724102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721629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5719156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6716684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7714211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711738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9709265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10706793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731520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1729047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2726575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>
            <a:off x="3724102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4721629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5719156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Shape 41"/>
          <p:cNvSpPr/>
          <p:nvPr/>
        </p:nvSpPr>
        <p:spPr>
          <a:xfrm>
            <a:off x="6716684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Shape 42"/>
          <p:cNvSpPr/>
          <p:nvPr/>
        </p:nvSpPr>
        <p:spPr>
          <a:xfrm>
            <a:off x="7714211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8711738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Shape 44"/>
          <p:cNvSpPr/>
          <p:nvPr/>
        </p:nvSpPr>
        <p:spPr>
          <a:xfrm>
            <a:off x="9709265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Shape 45"/>
          <p:cNvSpPr/>
          <p:nvPr/>
        </p:nvSpPr>
        <p:spPr>
          <a:xfrm>
            <a:off x="10706793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Shape 46"/>
          <p:cNvSpPr/>
          <p:nvPr/>
        </p:nvSpPr>
        <p:spPr>
          <a:xfrm>
            <a:off x="731520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Shape 47"/>
          <p:cNvSpPr/>
          <p:nvPr/>
        </p:nvSpPr>
        <p:spPr>
          <a:xfrm>
            <a:off x="1729047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Shape 48"/>
          <p:cNvSpPr/>
          <p:nvPr/>
        </p:nvSpPr>
        <p:spPr>
          <a:xfrm>
            <a:off x="2726575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Shape 49"/>
          <p:cNvSpPr/>
          <p:nvPr/>
        </p:nvSpPr>
        <p:spPr>
          <a:xfrm>
            <a:off x="3724102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Shape 50"/>
          <p:cNvSpPr/>
          <p:nvPr/>
        </p:nvSpPr>
        <p:spPr>
          <a:xfrm>
            <a:off x="4721629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Shape 51"/>
          <p:cNvSpPr/>
          <p:nvPr/>
        </p:nvSpPr>
        <p:spPr>
          <a:xfrm>
            <a:off x="5719156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Shape 52"/>
          <p:cNvSpPr/>
          <p:nvPr/>
        </p:nvSpPr>
        <p:spPr>
          <a:xfrm>
            <a:off x="6716684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Shape 53"/>
          <p:cNvSpPr/>
          <p:nvPr/>
        </p:nvSpPr>
        <p:spPr>
          <a:xfrm>
            <a:off x="7714211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Shape 54"/>
          <p:cNvSpPr/>
          <p:nvPr/>
        </p:nvSpPr>
        <p:spPr>
          <a:xfrm>
            <a:off x="8711738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Shape 55"/>
          <p:cNvSpPr/>
          <p:nvPr/>
        </p:nvSpPr>
        <p:spPr>
          <a:xfrm>
            <a:off x="9709265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Shape 56"/>
          <p:cNvSpPr/>
          <p:nvPr/>
        </p:nvSpPr>
        <p:spPr>
          <a:xfrm>
            <a:off x="10706793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Shape 57"/>
          <p:cNvSpPr/>
          <p:nvPr/>
        </p:nvSpPr>
        <p:spPr>
          <a:xfrm>
            <a:off x="731520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Shape 58"/>
          <p:cNvSpPr/>
          <p:nvPr/>
        </p:nvSpPr>
        <p:spPr>
          <a:xfrm>
            <a:off x="1729047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Shape 59"/>
          <p:cNvSpPr/>
          <p:nvPr/>
        </p:nvSpPr>
        <p:spPr>
          <a:xfrm>
            <a:off x="2726575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2" name="Shape 60"/>
          <p:cNvSpPr/>
          <p:nvPr/>
        </p:nvSpPr>
        <p:spPr>
          <a:xfrm>
            <a:off x="3724102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Shape 61"/>
          <p:cNvSpPr/>
          <p:nvPr/>
        </p:nvSpPr>
        <p:spPr>
          <a:xfrm>
            <a:off x="4721629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4" name="Shape 62"/>
          <p:cNvSpPr/>
          <p:nvPr/>
        </p:nvSpPr>
        <p:spPr>
          <a:xfrm>
            <a:off x="5719156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Shape 63"/>
          <p:cNvSpPr/>
          <p:nvPr/>
        </p:nvSpPr>
        <p:spPr>
          <a:xfrm>
            <a:off x="6716684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6" name="Shape 64"/>
          <p:cNvSpPr/>
          <p:nvPr/>
        </p:nvSpPr>
        <p:spPr>
          <a:xfrm>
            <a:off x="7714211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Shape 65"/>
          <p:cNvSpPr/>
          <p:nvPr/>
        </p:nvSpPr>
        <p:spPr>
          <a:xfrm>
            <a:off x="8711738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Shape 66"/>
          <p:cNvSpPr/>
          <p:nvPr/>
        </p:nvSpPr>
        <p:spPr>
          <a:xfrm>
            <a:off x="9709265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Shape 67"/>
          <p:cNvSpPr/>
          <p:nvPr/>
        </p:nvSpPr>
        <p:spPr>
          <a:xfrm>
            <a:off x="10706793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Shape 68"/>
          <p:cNvSpPr/>
          <p:nvPr/>
        </p:nvSpPr>
        <p:spPr>
          <a:xfrm>
            <a:off x="731520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Shape 69"/>
          <p:cNvSpPr/>
          <p:nvPr/>
        </p:nvSpPr>
        <p:spPr>
          <a:xfrm>
            <a:off x="1729047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Shape 70"/>
          <p:cNvSpPr/>
          <p:nvPr/>
        </p:nvSpPr>
        <p:spPr>
          <a:xfrm>
            <a:off x="2726575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Shape 71"/>
          <p:cNvSpPr/>
          <p:nvPr/>
        </p:nvSpPr>
        <p:spPr>
          <a:xfrm>
            <a:off x="3724102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4" name="Shape 72"/>
          <p:cNvSpPr/>
          <p:nvPr/>
        </p:nvSpPr>
        <p:spPr>
          <a:xfrm>
            <a:off x="4721629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Shape 73"/>
          <p:cNvSpPr/>
          <p:nvPr/>
        </p:nvSpPr>
        <p:spPr>
          <a:xfrm>
            <a:off x="5719156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6" name="Shape 74"/>
          <p:cNvSpPr/>
          <p:nvPr/>
        </p:nvSpPr>
        <p:spPr>
          <a:xfrm>
            <a:off x="6716684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7" name="Shape 75"/>
          <p:cNvSpPr/>
          <p:nvPr/>
        </p:nvSpPr>
        <p:spPr>
          <a:xfrm>
            <a:off x="7714211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Shape 76"/>
          <p:cNvSpPr/>
          <p:nvPr/>
        </p:nvSpPr>
        <p:spPr>
          <a:xfrm>
            <a:off x="8711738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9" name="Shape 77"/>
          <p:cNvSpPr/>
          <p:nvPr/>
        </p:nvSpPr>
        <p:spPr>
          <a:xfrm>
            <a:off x="9709265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0" name="Shape 78"/>
          <p:cNvSpPr/>
          <p:nvPr/>
        </p:nvSpPr>
        <p:spPr>
          <a:xfrm>
            <a:off x="10706793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Shape 79"/>
          <p:cNvSpPr/>
          <p:nvPr/>
        </p:nvSpPr>
        <p:spPr>
          <a:xfrm>
            <a:off x="731520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2" name="Shape 80"/>
          <p:cNvSpPr/>
          <p:nvPr/>
        </p:nvSpPr>
        <p:spPr>
          <a:xfrm>
            <a:off x="1729047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3" name="Shape 81"/>
          <p:cNvSpPr/>
          <p:nvPr/>
        </p:nvSpPr>
        <p:spPr>
          <a:xfrm>
            <a:off x="2726575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4" name="Shape 82"/>
          <p:cNvSpPr/>
          <p:nvPr/>
        </p:nvSpPr>
        <p:spPr>
          <a:xfrm>
            <a:off x="3724102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5" name="Shape 83"/>
          <p:cNvSpPr/>
          <p:nvPr/>
        </p:nvSpPr>
        <p:spPr>
          <a:xfrm>
            <a:off x="4721629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6" name="Shape 84"/>
          <p:cNvSpPr/>
          <p:nvPr/>
        </p:nvSpPr>
        <p:spPr>
          <a:xfrm>
            <a:off x="5719156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7" name="Shape 85"/>
          <p:cNvSpPr/>
          <p:nvPr/>
        </p:nvSpPr>
        <p:spPr>
          <a:xfrm>
            <a:off x="6716684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8" name="Shape 86"/>
          <p:cNvSpPr/>
          <p:nvPr/>
        </p:nvSpPr>
        <p:spPr>
          <a:xfrm>
            <a:off x="7714211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9" name="Shape 87"/>
          <p:cNvSpPr/>
          <p:nvPr/>
        </p:nvSpPr>
        <p:spPr>
          <a:xfrm>
            <a:off x="8711738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0" name="Shape 88"/>
          <p:cNvSpPr/>
          <p:nvPr/>
        </p:nvSpPr>
        <p:spPr>
          <a:xfrm>
            <a:off x="9709265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1" name="Shape 89"/>
          <p:cNvSpPr/>
          <p:nvPr/>
        </p:nvSpPr>
        <p:spPr>
          <a:xfrm>
            <a:off x="10706793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2" name="Shape 90"/>
          <p:cNvSpPr/>
          <p:nvPr/>
        </p:nvSpPr>
        <p:spPr>
          <a:xfrm>
            <a:off x="731520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Shape 91"/>
          <p:cNvSpPr/>
          <p:nvPr/>
        </p:nvSpPr>
        <p:spPr>
          <a:xfrm>
            <a:off x="1729047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4" name="Shape 92"/>
          <p:cNvSpPr/>
          <p:nvPr/>
        </p:nvSpPr>
        <p:spPr>
          <a:xfrm>
            <a:off x="2726575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5" name="Shape 93"/>
          <p:cNvSpPr/>
          <p:nvPr/>
        </p:nvSpPr>
        <p:spPr>
          <a:xfrm>
            <a:off x="3724102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6" name="Shape 94"/>
          <p:cNvSpPr/>
          <p:nvPr/>
        </p:nvSpPr>
        <p:spPr>
          <a:xfrm>
            <a:off x="4721629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7" name="Shape 95"/>
          <p:cNvSpPr/>
          <p:nvPr/>
        </p:nvSpPr>
        <p:spPr>
          <a:xfrm>
            <a:off x="5719156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8" name="Shape 96"/>
          <p:cNvSpPr/>
          <p:nvPr/>
        </p:nvSpPr>
        <p:spPr>
          <a:xfrm>
            <a:off x="6716684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9" name="Shape 97"/>
          <p:cNvSpPr/>
          <p:nvPr/>
        </p:nvSpPr>
        <p:spPr>
          <a:xfrm>
            <a:off x="7714211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0" name="Shape 98"/>
          <p:cNvSpPr/>
          <p:nvPr/>
        </p:nvSpPr>
        <p:spPr>
          <a:xfrm>
            <a:off x="8711738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1" name="Shape 99"/>
          <p:cNvSpPr/>
          <p:nvPr/>
        </p:nvSpPr>
        <p:spPr>
          <a:xfrm>
            <a:off x="9709265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2" name="Shape 100"/>
          <p:cNvSpPr/>
          <p:nvPr/>
        </p:nvSpPr>
        <p:spPr>
          <a:xfrm>
            <a:off x="10706793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3" name="Shape 101"/>
          <p:cNvSpPr/>
          <p:nvPr/>
        </p:nvSpPr>
        <p:spPr>
          <a:xfrm>
            <a:off x="731520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4" name="Shape 102"/>
          <p:cNvSpPr/>
          <p:nvPr/>
        </p:nvSpPr>
        <p:spPr>
          <a:xfrm>
            <a:off x="1729047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Shape 103"/>
          <p:cNvSpPr/>
          <p:nvPr/>
        </p:nvSpPr>
        <p:spPr>
          <a:xfrm>
            <a:off x="2726575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6" name="Shape 104"/>
          <p:cNvSpPr/>
          <p:nvPr/>
        </p:nvSpPr>
        <p:spPr>
          <a:xfrm>
            <a:off x="3724102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7" name="Shape 105"/>
          <p:cNvSpPr/>
          <p:nvPr/>
        </p:nvSpPr>
        <p:spPr>
          <a:xfrm>
            <a:off x="4721629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8" name="Shape 106"/>
          <p:cNvSpPr/>
          <p:nvPr/>
        </p:nvSpPr>
        <p:spPr>
          <a:xfrm>
            <a:off x="5719156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9" name="Shape 107"/>
          <p:cNvSpPr/>
          <p:nvPr/>
        </p:nvSpPr>
        <p:spPr>
          <a:xfrm>
            <a:off x="6716684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0" name="Shape 108"/>
          <p:cNvSpPr/>
          <p:nvPr/>
        </p:nvSpPr>
        <p:spPr>
          <a:xfrm>
            <a:off x="7714211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Shape 109"/>
          <p:cNvSpPr/>
          <p:nvPr/>
        </p:nvSpPr>
        <p:spPr>
          <a:xfrm>
            <a:off x="8711738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2" name="Shape 110"/>
          <p:cNvSpPr/>
          <p:nvPr/>
        </p:nvSpPr>
        <p:spPr>
          <a:xfrm>
            <a:off x="9709265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3" name="Shape 111"/>
          <p:cNvSpPr/>
          <p:nvPr/>
        </p:nvSpPr>
        <p:spPr>
          <a:xfrm>
            <a:off x="10706793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4" name="Text 112"/>
          <p:cNvSpPr/>
          <p:nvPr/>
        </p:nvSpPr>
        <p:spPr>
          <a:xfrm>
            <a:off x="777240" y="1490472"/>
            <a:ext cx="9060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Actividad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1729047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S1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2726575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S2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3724102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S3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4721629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S4</a:t>
            </a:r>
            <a:endParaRPr lang="en-US" sz="1050" dirty="0"/>
          </a:p>
        </p:txBody>
      </p:sp>
      <p:sp>
        <p:nvSpPr>
          <p:cNvPr id="119" name="Text 117"/>
          <p:cNvSpPr/>
          <p:nvPr/>
        </p:nvSpPr>
        <p:spPr>
          <a:xfrm>
            <a:off x="5719156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S5</a:t>
            </a:r>
            <a:endParaRPr lang="en-US" sz="1050" dirty="0"/>
          </a:p>
        </p:txBody>
      </p:sp>
      <p:sp>
        <p:nvSpPr>
          <p:cNvPr id="120" name="Text 118"/>
          <p:cNvSpPr/>
          <p:nvPr/>
        </p:nvSpPr>
        <p:spPr>
          <a:xfrm>
            <a:off x="6716684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S6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7714211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S7</a:t>
            </a:r>
            <a:endParaRPr lang="en-US" sz="1050" dirty="0"/>
          </a:p>
        </p:txBody>
      </p:sp>
      <p:sp>
        <p:nvSpPr>
          <p:cNvPr id="122" name="Text 120"/>
          <p:cNvSpPr/>
          <p:nvPr/>
        </p:nvSpPr>
        <p:spPr>
          <a:xfrm>
            <a:off x="8711738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S8</a:t>
            </a:r>
            <a:endParaRPr lang="en-US" sz="1050" dirty="0"/>
          </a:p>
        </p:txBody>
      </p:sp>
      <p:sp>
        <p:nvSpPr>
          <p:cNvPr id="123" name="Text 121"/>
          <p:cNvSpPr/>
          <p:nvPr/>
        </p:nvSpPr>
        <p:spPr>
          <a:xfrm>
            <a:off x="9709265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S9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10706793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S10</a:t>
            </a:r>
            <a:endParaRPr lang="en-US" sz="1050" dirty="0"/>
          </a:p>
        </p:txBody>
      </p:sp>
      <p:sp>
        <p:nvSpPr>
          <p:cNvPr id="125" name="Text 123"/>
          <p:cNvSpPr/>
          <p:nvPr/>
        </p:nvSpPr>
        <p:spPr>
          <a:xfrm>
            <a:off x="777240" y="1901952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Definición del problema y alcance</a:t>
            </a:r>
            <a:endParaRPr lang="en-US" sz="960" dirty="0"/>
          </a:p>
        </p:txBody>
      </p:sp>
      <p:sp>
        <p:nvSpPr>
          <p:cNvPr id="126" name="Text 124"/>
          <p:cNvSpPr/>
          <p:nvPr/>
        </p:nvSpPr>
        <p:spPr>
          <a:xfrm>
            <a:off x="777240" y="2340864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Diseño de arquitectura y entorno de laboratorio</a:t>
            </a:r>
            <a:endParaRPr lang="en-US" sz="960" dirty="0"/>
          </a:p>
        </p:txBody>
      </p:sp>
      <p:sp>
        <p:nvSpPr>
          <p:cNvPr id="127" name="Text 125"/>
          <p:cNvSpPr/>
          <p:nvPr/>
        </p:nvSpPr>
        <p:spPr>
          <a:xfrm>
            <a:off x="777240" y="2779776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Diseño del modelo de datos</a:t>
            </a:r>
            <a:endParaRPr lang="en-US" sz="960" dirty="0"/>
          </a:p>
        </p:txBody>
      </p:sp>
      <p:sp>
        <p:nvSpPr>
          <p:cNvPr id="128" name="Text 126"/>
          <p:cNvSpPr/>
          <p:nvPr/>
        </p:nvSpPr>
        <p:spPr>
          <a:xfrm>
            <a:off x="777240" y="3218688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Integración del módulo de reconocimiento</a:t>
            </a:r>
            <a:endParaRPr lang="en-US" sz="960" dirty="0"/>
          </a:p>
        </p:txBody>
      </p:sp>
      <p:sp>
        <p:nvSpPr>
          <p:cNvPr id="129" name="Text 127"/>
          <p:cNvSpPr/>
          <p:nvPr/>
        </p:nvSpPr>
        <p:spPr>
          <a:xfrm>
            <a:off x="777240" y="3657600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Integración del módulo de escaneo</a:t>
            </a:r>
            <a:endParaRPr lang="en-US" sz="960" dirty="0"/>
          </a:p>
        </p:txBody>
      </p:sp>
      <p:sp>
        <p:nvSpPr>
          <p:cNvPr id="130" name="Text 128"/>
          <p:cNvSpPr/>
          <p:nvPr/>
        </p:nvSpPr>
        <p:spPr>
          <a:xfrm>
            <a:off x="777240" y="4096512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Desarrollo del módulo de análisis con IA</a:t>
            </a:r>
            <a:endParaRPr lang="en-US" sz="960" dirty="0"/>
          </a:p>
        </p:txBody>
      </p:sp>
      <p:sp>
        <p:nvSpPr>
          <p:cNvPr id="131" name="Text 129"/>
          <p:cNvSpPr/>
          <p:nvPr/>
        </p:nvSpPr>
        <p:spPr>
          <a:xfrm>
            <a:off x="777240" y="4535424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Implementación de reportería y visualización</a:t>
            </a:r>
            <a:endParaRPr lang="en-US" sz="960" dirty="0"/>
          </a:p>
        </p:txBody>
      </p:sp>
      <p:sp>
        <p:nvSpPr>
          <p:cNvPr id="132" name="Text 130"/>
          <p:cNvSpPr/>
          <p:nvPr/>
        </p:nvSpPr>
        <p:spPr>
          <a:xfrm>
            <a:off x="777240" y="4974336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Validación experimental en laboratorio</a:t>
            </a:r>
            <a:endParaRPr lang="en-US" sz="960" dirty="0"/>
          </a:p>
        </p:txBody>
      </p:sp>
      <p:sp>
        <p:nvSpPr>
          <p:cNvPr id="133" name="Text 131"/>
          <p:cNvSpPr/>
          <p:nvPr/>
        </p:nvSpPr>
        <p:spPr>
          <a:xfrm>
            <a:off x="777240" y="5413248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Ajustes finales y pruebas</a:t>
            </a:r>
            <a:endParaRPr lang="en-US" sz="960" dirty="0"/>
          </a:p>
        </p:txBody>
      </p:sp>
      <p:sp>
        <p:nvSpPr>
          <p:cNvPr id="134" name="Shape 132"/>
          <p:cNvSpPr/>
          <p:nvPr/>
        </p:nvSpPr>
        <p:spPr>
          <a:xfrm>
            <a:off x="1765623" y="1929384"/>
            <a:ext cx="924375" cy="292608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5" name="Shape 133"/>
          <p:cNvSpPr/>
          <p:nvPr/>
        </p:nvSpPr>
        <p:spPr>
          <a:xfrm>
            <a:off x="1765623" y="2368296"/>
            <a:ext cx="924375" cy="292608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6" name="Shape 134"/>
          <p:cNvSpPr/>
          <p:nvPr/>
        </p:nvSpPr>
        <p:spPr>
          <a:xfrm>
            <a:off x="2763151" y="2368296"/>
            <a:ext cx="924375" cy="292608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7" name="Shape 135"/>
          <p:cNvSpPr/>
          <p:nvPr/>
        </p:nvSpPr>
        <p:spPr>
          <a:xfrm>
            <a:off x="2763151" y="2807208"/>
            <a:ext cx="924375" cy="292608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8" name="Shape 136"/>
          <p:cNvSpPr/>
          <p:nvPr/>
        </p:nvSpPr>
        <p:spPr>
          <a:xfrm>
            <a:off x="3760678" y="3246120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9" name="Shape 137"/>
          <p:cNvSpPr/>
          <p:nvPr/>
        </p:nvSpPr>
        <p:spPr>
          <a:xfrm>
            <a:off x="4758205" y="3246120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0" name="Shape 138"/>
          <p:cNvSpPr/>
          <p:nvPr/>
        </p:nvSpPr>
        <p:spPr>
          <a:xfrm>
            <a:off x="4758205" y="3685032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1" name="Shape 139"/>
          <p:cNvSpPr/>
          <p:nvPr/>
        </p:nvSpPr>
        <p:spPr>
          <a:xfrm>
            <a:off x="5755732" y="3685032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2" name="Shape 140"/>
          <p:cNvSpPr/>
          <p:nvPr/>
        </p:nvSpPr>
        <p:spPr>
          <a:xfrm>
            <a:off x="5755732" y="4123944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3" name="Shape 141"/>
          <p:cNvSpPr/>
          <p:nvPr/>
        </p:nvSpPr>
        <p:spPr>
          <a:xfrm>
            <a:off x="6753260" y="4123944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4" name="Shape 142"/>
          <p:cNvSpPr/>
          <p:nvPr/>
        </p:nvSpPr>
        <p:spPr>
          <a:xfrm>
            <a:off x="7750787" y="4123944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5" name="Shape 143"/>
          <p:cNvSpPr/>
          <p:nvPr/>
        </p:nvSpPr>
        <p:spPr>
          <a:xfrm>
            <a:off x="7750787" y="4562856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6" name="Shape 144"/>
          <p:cNvSpPr/>
          <p:nvPr/>
        </p:nvSpPr>
        <p:spPr>
          <a:xfrm>
            <a:off x="8748314" y="4562856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7" name="Shape 145"/>
          <p:cNvSpPr/>
          <p:nvPr/>
        </p:nvSpPr>
        <p:spPr>
          <a:xfrm>
            <a:off x="8748314" y="5001768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8" name="Shape 146"/>
          <p:cNvSpPr/>
          <p:nvPr/>
        </p:nvSpPr>
        <p:spPr>
          <a:xfrm>
            <a:off x="9745841" y="5001768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9" name="Shape 147"/>
          <p:cNvSpPr/>
          <p:nvPr/>
        </p:nvSpPr>
        <p:spPr>
          <a:xfrm>
            <a:off x="9745841" y="5440680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0" name="Shape 148"/>
          <p:cNvSpPr/>
          <p:nvPr/>
        </p:nvSpPr>
        <p:spPr>
          <a:xfrm>
            <a:off x="10743369" y="5440680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1" name="Text 149"/>
          <p:cNvSpPr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Hito: flujo funcional end-to-end validado en laboratorio y documentado</a:t>
            </a:r>
            <a:endParaRPr lang="en-US" sz="1400" dirty="0"/>
          </a:p>
        </p:txBody>
      </p:sp>
      <p:sp>
        <p:nvSpPr>
          <p:cNvPr id="152" name="Text 150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del software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funcional orientada a resolver fragmentación, análisis y reportería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9611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Herramientas de seguridad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Nmap · Nuclei · reconocimiento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9748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77063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Recolección de hallazgos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7063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Obtención de evidencia técnica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64515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Normalización de evidencia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Conversión a un formato común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51967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Análisis con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Interpretación, clasificación y contexto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244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32104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839419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Mapeo a MITRE ATT&amp;CK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9419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Tácticas y técnicas asociadas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6696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19556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1026871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Priorización y reporte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6871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Severidad, recomendaciones y PDF/dashboard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97280" y="434340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1097280" y="434340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1298448" y="4471416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Sentido de la arquitectura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98448" y="4745736"/>
            <a:ext cx="9555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La arquitectura organiza el sistema como un flujo que transforma resultados técnicos aislados en información correlacionada, priorizada y útil para apoyar el análisis de seguridad en entornos controlados.</a:t>
            </a:r>
            <a:endParaRPr lang="en-US" sz="1063" dirty="0"/>
          </a:p>
        </p:txBody>
      </p:sp>
      <p:sp>
        <p:nvSpPr>
          <p:cNvPr id="31" name="Text 29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pensada para correlacionar hallazgos y soportar reportería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32688" y="14538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Activo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7282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Objetivo o sistema analizado</a:t>
            </a:r>
            <a:endParaRPr lang="en-US" sz="1063" dirty="0"/>
          </a:p>
        </p:txBody>
      </p:sp>
      <p:sp>
        <p:nvSpPr>
          <p:cNvPr id="8" name="Shape 6"/>
          <p:cNvSpPr/>
          <p:nvPr/>
        </p:nvSpPr>
        <p:spPr>
          <a:xfrm>
            <a:off x="3611880" y="13258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10972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813048" y="14538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Hallazgo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3048" y="17282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Resultado detectado por una herramienta</a:t>
            </a:r>
            <a:endParaRPr lang="en-US" sz="1063" dirty="0"/>
          </a:p>
        </p:txBody>
      </p:sp>
      <p:sp>
        <p:nvSpPr>
          <p:cNvPr id="12" name="Shape 10"/>
          <p:cNvSpPr/>
          <p:nvPr/>
        </p:nvSpPr>
        <p:spPr>
          <a:xfrm>
            <a:off x="6492240" y="13258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492240" y="1325880"/>
            <a:ext cx="10972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693408" y="14538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Evidencia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93408" y="17282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Detalle técnico asociado al hallazgo</a:t>
            </a:r>
            <a:endParaRPr lang="en-US" sz="1063" dirty="0"/>
          </a:p>
        </p:txBody>
      </p:sp>
      <p:sp>
        <p:nvSpPr>
          <p:cNvPr id="16" name="Shape 14"/>
          <p:cNvSpPr/>
          <p:nvPr/>
        </p:nvSpPr>
        <p:spPr>
          <a:xfrm>
            <a:off x="9372600" y="13258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9372600" y="1325880"/>
            <a:ext cx="10972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573768" y="14538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Técnica ATT&amp;CK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73768" y="17282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Táctica o técnica relacionada</a:t>
            </a:r>
            <a:endParaRPr lang="en-US" sz="1063" dirty="0"/>
          </a:p>
        </p:txBody>
      </p:sp>
      <p:sp>
        <p:nvSpPr>
          <p:cNvPr id="20" name="Shape 18"/>
          <p:cNvSpPr/>
          <p:nvPr/>
        </p:nvSpPr>
        <p:spPr>
          <a:xfrm>
            <a:off x="2148840" y="28803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2148840" y="2880360"/>
            <a:ext cx="10972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350008" y="3008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Severidad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50008" y="328269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9" dirty="0">
                <a:solidFill>
                  <a:srgbClr val="1F2937"/>
                </a:solidFill>
              </a:rPr>
              <a:t>Nivel de criticidad asignado</a:t>
            </a:r>
            <a:endParaRPr lang="en-US" sz="1069" dirty="0"/>
          </a:p>
        </p:txBody>
      </p:sp>
      <p:sp>
        <p:nvSpPr>
          <p:cNvPr id="24" name="Shape 22"/>
          <p:cNvSpPr/>
          <p:nvPr/>
        </p:nvSpPr>
        <p:spPr>
          <a:xfrm>
            <a:off x="5029200" y="28803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5029200" y="2880360"/>
            <a:ext cx="109728" cy="10972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230368" y="3008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Ejecución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30368" y="328269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Registro de cada análisis realizado</a:t>
            </a:r>
            <a:endParaRPr lang="en-US" sz="1063" dirty="0"/>
          </a:p>
        </p:txBody>
      </p:sp>
      <p:sp>
        <p:nvSpPr>
          <p:cNvPr id="28" name="Shape 26"/>
          <p:cNvSpPr/>
          <p:nvPr/>
        </p:nvSpPr>
        <p:spPr>
          <a:xfrm>
            <a:off x="7909560" y="28803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7909560" y="288036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8110728" y="3008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Reporte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10728" y="328269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Consolidado final de resultados</a:t>
            </a:r>
            <a:endParaRPr lang="en-US" sz="1063" dirty="0"/>
          </a:p>
        </p:txBody>
      </p:sp>
      <p:sp>
        <p:nvSpPr>
          <p:cNvPr id="32" name="Shape 30"/>
          <p:cNvSpPr/>
          <p:nvPr/>
        </p:nvSpPr>
        <p:spPr>
          <a:xfrm>
            <a:off x="822960" y="4754880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2960" y="4754880"/>
            <a:ext cx="109728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1024128" y="4882896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Propósito del modelo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24128" y="5157216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Permite pasar desde resultados técnicos aislados a información correlacionada y útil para el análisis de seguridad.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orientado a integración, análisis asistido por IA y generación de reportes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972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78408" y="1545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81965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Lógica principal del sistema</a:t>
            </a:r>
            <a:endParaRPr lang="en-US" sz="1247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10972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681728" y="1545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FastAPI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1728" y="181965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Servicios y comunicación interna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109728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385048" y="1545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Nmap / Nuclei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81965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Obtención de hallazgos</a:t>
            </a:r>
            <a:endParaRPr lang="en-US" sz="1247" dirty="0"/>
          </a:p>
        </p:txBody>
      </p:sp>
      <p:sp>
        <p:nvSpPr>
          <p:cNvPr id="16" name="Shape 14"/>
          <p:cNvSpPr/>
          <p:nvPr/>
        </p:nvSpPr>
        <p:spPr>
          <a:xfrm>
            <a:off x="777240" y="292608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77240" y="2926080"/>
            <a:ext cx="10972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78408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MITRE ATT&amp;CK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8408" y="33284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Marco de referencia</a:t>
            </a:r>
            <a:endParaRPr lang="en-US" sz="1247" dirty="0"/>
          </a:p>
        </p:txBody>
      </p:sp>
      <p:sp>
        <p:nvSpPr>
          <p:cNvPr id="20" name="Shape 18"/>
          <p:cNvSpPr/>
          <p:nvPr/>
        </p:nvSpPr>
        <p:spPr>
          <a:xfrm>
            <a:off x="4480560" y="292608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480560" y="2926080"/>
            <a:ext cx="109728" cy="1170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681728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LLM / 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81728" y="33284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Interpretación y reportería</a:t>
            </a:r>
            <a:endParaRPr lang="en-US" sz="1247" dirty="0"/>
          </a:p>
        </p:txBody>
      </p:sp>
      <p:sp>
        <p:nvSpPr>
          <p:cNvPr id="24" name="Shape 22"/>
          <p:cNvSpPr/>
          <p:nvPr/>
        </p:nvSpPr>
        <p:spPr>
          <a:xfrm>
            <a:off x="8183880" y="292608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183880" y="2926080"/>
            <a:ext cx="109728" cy="11704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8385048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Base de datos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85048" y="33284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Persistencia de hallazgos</a:t>
            </a:r>
            <a:endParaRPr lang="en-US" sz="1247" dirty="0"/>
          </a:p>
        </p:txBody>
      </p:sp>
      <p:sp>
        <p:nvSpPr>
          <p:cNvPr id="28" name="Shape 26"/>
          <p:cNvSpPr/>
          <p:nvPr/>
        </p:nvSpPr>
        <p:spPr>
          <a:xfrm>
            <a:off x="777240" y="443484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777240" y="4434840"/>
            <a:ext cx="10972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978408" y="45628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PDF / Dashboard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8408" y="483717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Visualización y entrega de resultados</a:t>
            </a:r>
            <a:endParaRPr lang="en-US" sz="1247" dirty="0"/>
          </a:p>
        </p:txBody>
      </p:sp>
      <p:sp>
        <p:nvSpPr>
          <p:cNvPr id="32" name="Text 30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Demostración del resultado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esperado de la ejecución del prototipo en laboratorio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1453896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23544" y="15270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25880" y="15270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Ingreso de objetivo autorizado o caso de prueba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075688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822960" y="211226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23544" y="218541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2185416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Ejecución de herramientas de reconocimiento y escaneo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2734056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22960" y="277063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23544" y="284378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2843784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Consolidación de hallazgos obtenidos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3392424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23544" y="35021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25880" y="350215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Interpretación asistida por IA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050792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2960" y="408736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923544" y="416052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25880" y="4160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Relación de hallazgos con MITRE ATT&amp;CK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709160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2960" y="4745736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923544" y="48188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25880" y="481888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Priorización del riesgo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14400" y="5367528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2960" y="540410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923544" y="54772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25880" y="5477256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Generación de reporte técnico y ejecutivo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obtenidos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enfatiza qué problema se resolvió y qué valor aporta el prototipo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972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78408" y="15453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Consolidación de hallazgos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81965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Se redujo la fragmentación de resultados técnicos en una sola vista de análisis.</a:t>
            </a:r>
            <a:endParaRPr lang="en-US" sz="1063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464808" y="15453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Correlación con MITRE ATT&amp;CK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181965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6" dirty="0">
                <a:solidFill>
                  <a:srgbClr val="1F2937"/>
                </a:solidFill>
              </a:rPr>
              <a:t>Se logró relacionar evidencia técnica con tácticas y técnicas relevantes.</a:t>
            </a:r>
            <a:endParaRPr lang="en-US" sz="1116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10972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78408" y="29626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Priorización asistida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408" y="3236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Los hallazgos pueden ordenarse según criticidad, contexto y posible vector de ataque.</a:t>
            </a:r>
            <a:endParaRPr lang="en-US" sz="1063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263640" y="2834640"/>
            <a:ext cx="10972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464808" y="29626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Reportería consistente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3236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8" dirty="0">
                <a:solidFill>
                  <a:srgbClr val="1F2937"/>
                </a:solidFill>
              </a:rPr>
              <a:t>Se habilita generación de reportes más estructurados y homogéneos.</a:t>
            </a:r>
            <a:endParaRPr lang="en-US" sz="1128" dirty="0"/>
          </a:p>
        </p:txBody>
      </p:sp>
      <p:sp>
        <p:nvSpPr>
          <p:cNvPr id="20" name="Shape 18"/>
          <p:cNvSpPr/>
          <p:nvPr/>
        </p:nvSpPr>
        <p:spPr>
          <a:xfrm>
            <a:off x="777240" y="425196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777240" y="4251960"/>
            <a:ext cx="10972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978408" y="43799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Validación en laboratorio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8408" y="465429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6" dirty="0">
                <a:solidFill>
                  <a:srgbClr val="1F2937"/>
                </a:solidFill>
              </a:rPr>
              <a:t>El sistema se orienta a pruebas controladas y resultados demostrables.</a:t>
            </a:r>
            <a:endParaRPr lang="en-US" sz="1106" dirty="0"/>
          </a:p>
        </p:txBody>
      </p:sp>
      <p:sp>
        <p:nvSpPr>
          <p:cNvPr id="24" name="Text 22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Obstáculos presentados durante el desarrollo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Principales desafíos técnicos y de gestión detectados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24128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extensos y heterogéneos de las herramientas integradas.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Complejidad para normalizar resultados en distintos formatos.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para definir reglas de mapeo a MITRE ATT&amp;CK.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 de acotar alcance para cumplir con el plazo disponible.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Coordinación del laboratorio y validación experimental.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 de APIs o servicios externos para algunas funciones.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489204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960120" y="4892040"/>
            <a:ext cx="10972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161288" y="502005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Aprendizaje principal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1288" y="5294376"/>
            <a:ext cx="9738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El mayor desafío no fue solo construir la solución, sino definir un alcance realista que permitiera demostrar valor sobre el problema identificado.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4688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la comisión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333756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</a:rPr>
              <a:t>ETH-MAS · Plataforma asistida por IA para análisis de hallazgos de seguridad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886200" y="3840480"/>
            <a:ext cx="4389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1779</Words>
  <Application>Microsoft Office PowerPoint</Application>
  <PresentationFormat>Panorámica</PresentationFormat>
  <Paragraphs>238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ETH-MAS - Presentación final</dc:title>
  <dc:subject>ETH-MAS proyecto capstone</dc:subject>
  <dc:creator>OpenAI</dc:creator>
  <cp:lastModifiedBy>YERSON . MOLINA MOLINA</cp:lastModifiedBy>
  <cp:revision>3</cp:revision>
  <dcterms:created xsi:type="dcterms:W3CDTF">2026-04-14T22:00:05Z</dcterms:created>
  <dcterms:modified xsi:type="dcterms:W3CDTF">2026-05-15T21:22:01Z</dcterms:modified>
</cp:coreProperties>
</file>