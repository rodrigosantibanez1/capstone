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7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8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E41AB3-A40C-468E-A35F-6FE80F3AF8C3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F80BD-08CA-4B65-9236-BC24B4F3A6D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7171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" name="Google Shape;123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[Sources]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 Cronograma derivado de Plan de trabajo — 10 semanas del archivo ETH_MAS_Definicion_Proyecto.pptx y adaptado al formato final aportado por el usuario.</a:t>
            </a:r>
            <a:b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[/Sources]</a:t>
            </a:r>
            <a:endParaRPr/>
          </a:p>
        </p:txBody>
      </p:sp>
      <p:sp>
        <p:nvSpPr>
          <p:cNvPr id="124" name="Google Shape;124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">
  <p:cSld name="MASTER">
    <p:bg>
      <p:bgPr>
        <a:solidFill>
          <a:srgbClr val="F7F9FC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16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F172A"/>
          </a:solidFill>
          <a:ln w="127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6"/>
          <p:cNvSpPr/>
          <p:nvPr/>
        </p:nvSpPr>
        <p:spPr>
          <a:xfrm>
            <a:off x="411480" y="82296"/>
            <a:ext cx="182880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lang="en-US" sz="22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ETH-MAS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" name="Google Shape;9;p16"/>
          <p:cNvCxnSpPr/>
          <p:nvPr/>
        </p:nvCxnSpPr>
        <p:spPr>
          <a:xfrm>
            <a:off x="411480" y="713232"/>
            <a:ext cx="11338560" cy="0"/>
          </a:xfrm>
          <a:prstGeom prst="straightConnector1">
            <a:avLst/>
          </a:prstGeom>
          <a:noFill/>
          <a:ln w="12700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035574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19-06-2026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" y="2500000"/>
            <a:ext cx="12191999" cy="14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4600" b="0" i="0">
                <a:solidFill>
                  <a:srgbClr val="2E3746"/>
                </a:solidFill>
                <a:latin typeface="Calibri"/>
              </a:rPr>
              <a:t>PROYECTO ETH-MAS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 i="0">
                <a:solidFill>
                  <a:srgbClr val="4472C4"/>
                </a:solidFill>
                <a:latin typeface="Calibri"/>
              </a:rPr>
              <a:t>PRESENTACIÓN FINAL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" y="4150000"/>
            <a:ext cx="12191999" cy="59779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1500" b="0" i="0" dirty="0">
                <a:solidFill>
                  <a:srgbClr val="4A4A4A"/>
                </a:solidFill>
                <a:latin typeface="Calibri"/>
              </a:rPr>
              <a:t>Ethical Hacking Multi-Agent System —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Pentesting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asistido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500" b="0" i="0" dirty="0">
                <a:solidFill>
                  <a:srgbClr val="4A4A4A"/>
                </a:solidFill>
                <a:latin typeface="Calibri"/>
              </a:rPr>
              <a:t> IA con control </a:t>
            </a:r>
            <a:r>
              <a:rPr sz="1500" b="0" i="0" dirty="0" err="1">
                <a:solidFill>
                  <a:srgbClr val="4A4A4A"/>
                </a:solidFill>
                <a:latin typeface="Calibri"/>
              </a:rPr>
              <a:t>humano</a:t>
            </a:r>
            <a:endParaRPr sz="1500" b="0" i="0" dirty="0">
              <a:solidFill>
                <a:srgbClr val="4A4A4A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767171"/>
                </a:solidFill>
                <a:latin typeface="Calibri"/>
              </a:rPr>
              <a:t>PTY4614 · DUOC UC · 2026     |     Rodrigo Santibáñez · Yerson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767171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767171"/>
                </a:solidFill>
                <a:latin typeface="Calibri"/>
              </a:rPr>
              <a:t> Garrido</a:t>
            </a:r>
            <a:endParaRPr sz="1300" b="0" i="0" dirty="0">
              <a:solidFill>
                <a:srgbClr val="76717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INTEGRANTES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4472C4"/>
                </a:solidFill>
                <a:latin typeface="Calibri"/>
              </a:rPr>
              <a:t>Rodrigo Santibáñez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Backend · Auth · Frontend core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Engagement &amp; Scope (E1)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Visualización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/ UI (E4, E7)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Auth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Gobernanza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(E9)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7333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ED7D31"/>
                </a:solidFill>
                <a:latin typeface="Calibri"/>
              </a:rPr>
              <a:t>Yerson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 err="1">
                <a:solidFill>
                  <a:srgbClr val="767171"/>
                </a:solidFill>
                <a:latin typeface="Calibri"/>
              </a:rPr>
              <a:t>Agentes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MCP · Scanning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&amp;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(E2, E3)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Servidores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+ tools reales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Laboratorio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(E0)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4666" y="2250000"/>
            <a:ext cx="3357333" cy="33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5100" tIns="228600" rIns="165100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900" b="0" i="0" dirty="0">
                <a:solidFill>
                  <a:srgbClr val="2E7D32"/>
                </a:solidFill>
                <a:latin typeface="Calibri"/>
              </a:rPr>
              <a:t>David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50" b="0" i="0" dirty="0">
                <a:solidFill>
                  <a:srgbClr val="767171"/>
                </a:solidFill>
                <a:latin typeface="Calibri"/>
              </a:rPr>
              <a:t>LLM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767171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767171"/>
                </a:solidFill>
                <a:latin typeface="Calibri"/>
              </a:rPr>
              <a:t>Reportería</a:t>
            </a:r>
            <a:endParaRPr sz="1250" b="0" i="0" dirty="0">
              <a:solidFill>
                <a:srgbClr val="76717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AnalysisAgent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MITRE/CVE (E5)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ReporterAgent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PDF (E6)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Mapeo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ATT&amp;CK / CVSS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5770000"/>
            <a:ext cx="10792000" cy="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2E3746"/>
                </a:solidFill>
                <a:latin typeface="Calibri"/>
              </a:rPr>
              <a:t>Metodología: </a:t>
            </a:r>
            <a:r>
              <a:rPr sz="1300" b="0" i="0">
                <a:solidFill>
                  <a:srgbClr val="4A4A4A"/>
                </a:solidFill>
                <a:latin typeface="Calibri"/>
              </a:rPr>
              <a:t>Scrum · roles rotativos PO / Scrum Master por sprint · 3 devs × 8 h/sem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DESCRIPCIÓN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ED7D31"/>
                </a:solidFill>
                <a:latin typeface="Calibri"/>
              </a:rPr>
              <a:t>Problema o dolor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 pentesting manual es lento, depende del experto y es difícil de auditar.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Las herramientas de IA "todo-automático" pierden el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Riesgo real: un agente que se sale del alcance autorizado o ejecuta acciones de riesgo sin aprobación.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676000" y="3700000"/>
            <a:ext cx="840000" cy="640000"/>
          </a:xfrm>
          <a:prstGeom prst="rightArrow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846000" y="2250000"/>
            <a:ext cx="464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2000" b="1" i="0">
                <a:solidFill>
                  <a:srgbClr val="4472C4"/>
                </a:solidFill>
                <a:latin typeface="Calibri"/>
              </a:rPr>
              <a:t>Propuesta de solución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ETH-MAS: pipeline de pentesting asistido por IA con control humano.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4 agentes LLM (Recon → Scan → Analysis → Reporter) que invocan herramientas reales vía MCP.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>
                <a:solidFill>
                  <a:srgbClr val="4A4A4A"/>
                </a:solidFill>
                <a:latin typeface="Calibri"/>
              </a:rPr>
              <a:t>Scope y HITL aplicados en código, no en el prompt. MITRE ATT&amp;CK como marco común.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TRES GARANTÍAS DE IDENTIDAD TÉCNICA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4472C4"/>
                </a:solidFill>
                <a:latin typeface="Calibri"/>
              </a:rPr>
              <a:t>①  Scope </a:t>
            </a:r>
            <a:r>
              <a:rPr sz="1700" b="1" i="0" dirty="0" err="1">
                <a:solidFill>
                  <a:srgbClr val="4472C4"/>
                </a:solidFill>
                <a:latin typeface="Calibri"/>
              </a:rPr>
              <a:t>programático</a:t>
            </a:r>
            <a:endParaRPr sz="17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Python,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prompt del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Decorador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@enforce_scope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tool call.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puede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salirse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alcance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autorizado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ED7D31"/>
                </a:solidFill>
                <a:latin typeface="Calibri"/>
              </a:rPr>
              <a:t>②  HITL </a:t>
            </a:r>
            <a:r>
              <a:rPr sz="1700" b="1" i="0" dirty="0" err="1">
                <a:solidFill>
                  <a:srgbClr val="ED7D31"/>
                </a:solidFill>
                <a:latin typeface="Calibri"/>
              </a:rPr>
              <a:t>bloqueante</a:t>
            </a:r>
            <a:endParaRPr sz="1700" b="1" i="0" dirty="0">
              <a:solidFill>
                <a:srgbClr val="ED7D31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Aprobación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humana antes de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toda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acción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activa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(scan).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→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Estados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PENDING / APPROVED / REJECTED / EXPIRED.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3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700" b="1" i="0" dirty="0">
                <a:solidFill>
                  <a:srgbClr val="2E7D32"/>
                </a:solidFill>
                <a:latin typeface="Calibri"/>
              </a:rPr>
              <a:t>③  MITRE ATT&amp;CK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Todo finding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mapeado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táctica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/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Marco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común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entre Scan,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Análisis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Reporte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CVE / CVSS reales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contra NVD.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6000" y="5460000"/>
            <a:ext cx="4600000" cy="520000"/>
          </a:xfrm>
          <a:prstGeom prst="roundRect">
            <a:avLst>
              <a:gd name="adj" fmla="val 50000"/>
            </a:avLst>
          </a:prstGeom>
          <a:solidFill>
            <a:srgbClr val="2F5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500" b="1" i="1">
                <a:solidFill>
                  <a:srgbClr val="FFFFFF"/>
                </a:solidFill>
                <a:latin typeface="Calibri"/>
              </a:rPr>
              <a:t>Estrategia libre, ejecución blindada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OBJETIVOS DEL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4400000" cy="35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2032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000" b="0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2000" b="0" i="0" dirty="0">
                <a:solidFill>
                  <a:srgbClr val="4472C4"/>
                </a:solidFill>
                <a:latin typeface="Calibri"/>
              </a:rPr>
              <a:t> general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 dirty="0" err="1">
                <a:solidFill>
                  <a:srgbClr val="4A4A4A"/>
                </a:solidFill>
                <a:latin typeface="Calibri"/>
              </a:rPr>
              <a:t>Construir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un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prototipo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funcional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sistema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multi-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pentesting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ético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asistido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IA con control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humano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ejecute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un pipeline Recon → Scan → Analysis → Reporter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objetivos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autorizados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00000" y="2200000"/>
            <a:ext cx="5792000" cy="35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8EAA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177800" rIns="177800" rtlCol="0" anchor="ctr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800" b="0" i="0" dirty="0" err="1">
                <a:solidFill>
                  <a:srgbClr val="2E3746"/>
                </a:solidFill>
                <a:latin typeface="Calibri"/>
              </a:rPr>
              <a:t>Objetivos</a:t>
            </a:r>
            <a:r>
              <a:rPr sz="1800" b="0" i="0" dirty="0">
                <a:solidFill>
                  <a:srgbClr val="2E3746"/>
                </a:solidFill>
                <a:latin typeface="Calibri"/>
              </a:rPr>
              <a:t> </a:t>
            </a:r>
            <a:r>
              <a:rPr sz="1800" b="0" i="0" dirty="0" err="1">
                <a:solidFill>
                  <a:srgbClr val="2E3746"/>
                </a:solidFill>
                <a:latin typeface="Calibri"/>
              </a:rPr>
              <a:t>específicos</a:t>
            </a:r>
            <a:endParaRPr sz="1800" b="0" i="0" dirty="0">
              <a:solidFill>
                <a:srgbClr val="2E3746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Orquestar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4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LLM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vía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MCP.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Garantizar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scope enforcement y 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Mapear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 MITRE ATT&amp;CK y CVE/CVSS reales (NVD).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PDF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Validar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end-to-end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un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laboratorio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ALCANCES Y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2E7D32"/>
                </a:solidFill>
                <a:latin typeface="Calibri"/>
              </a:rPr>
              <a:t>Alcances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Prototipo académico funcional, end-to-end.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Laboratorio aislado: Metasploitable2 + DVWA.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4 agentes + orquestador conversacional sobre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Reportes PDF (técnico y ejecutivo).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Observabilidad (agent_runs, pipeline_runs, SSE) y auth X-API-Key.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200000"/>
            <a:ext cx="5096000" cy="350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>
                <a:solidFill>
                  <a:srgbClr val="ED7D31"/>
                </a:solidFill>
                <a:latin typeface="Calibri"/>
              </a:rPr>
              <a:t>Limitaciones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No es un producto productivo desplegado.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El lab vulnerable nunca se expone a internet.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Despliegue GCP/on-prem especificado, no desplegado (se entrega on-prem, Variante B).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Modelos LLM con costo por API.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50" b="0" i="0">
                <a:solidFill>
                  <a:srgbClr val="4A4A4A"/>
                </a:solidFill>
                <a:latin typeface="Calibri"/>
              </a:rPr>
              <a:t>Sin explotación destructiva de los objetivos.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METODOLOGÍA DE TRABAJO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Scrum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Sprints de 2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semanas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Capacity 16 SP/sprint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3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devs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× 8 h/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sem</a:t>
            </a:r>
            <a:endParaRPr sz="1300" b="0" i="0" dirty="0">
              <a:solidFill>
                <a:srgbClr val="4A4A4A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Backlog: 9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épicas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24 HU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333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ED7D31"/>
                </a:solidFill>
                <a:latin typeface="Calibri"/>
              </a:rPr>
              <a:t>Ceremonias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Planning · Review · Retro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Daily asíncrono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Refinement semanal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MoSCoW + story 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4666" y="2150000"/>
            <a:ext cx="3377333" cy="20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>
                <a:solidFill>
                  <a:srgbClr val="2E7D32"/>
                </a:solidFill>
                <a:latin typeface="Calibri"/>
              </a:rPr>
              <a:t>Ingeniería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GitHub Flow (feature/HU-NN)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Conventional Commits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DoR / DoD definidos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>
                <a:solidFill>
                  <a:srgbClr val="4A4A4A"/>
                </a:solidFill>
                <a:latin typeface="Calibri"/>
              </a:rPr>
              <a:t>CI: pytest + build por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4500000"/>
            <a:ext cx="10792000" cy="10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2E3746"/>
                </a:solidFill>
                <a:latin typeface="Calibri"/>
              </a:rPr>
              <a:t>Resultado: </a:t>
            </a:r>
            <a:r>
              <a:rPr sz="1400" b="0" i="0">
                <a:solidFill>
                  <a:srgbClr val="4A4A4A"/>
                </a:solidFill>
                <a:latin typeface="Calibri"/>
              </a:rPr>
              <a:t>trazabilidad HU ↔ código ↔ commit; entregas demostrables en cada sprint (Demo 1, Demo 2, Demo Final).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/>
          <p:nvPr/>
        </p:nvSpPr>
        <p:spPr>
          <a:xfrm>
            <a:off x="548640" y="457200"/>
            <a:ext cx="80467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800"/>
              <a:buFont typeface="Play"/>
              <a:buNone/>
            </a:pPr>
            <a:r>
              <a:rPr lang="en-US" sz="2800" b="1">
                <a:solidFill>
                  <a:srgbClr val="0F172A"/>
                </a:solidFill>
                <a:latin typeface="Play"/>
                <a:ea typeface="Play"/>
                <a:cs typeface="Play"/>
                <a:sym typeface="Play"/>
              </a:rPr>
              <a:t>Release plan para el desarrollo del proyecto</a:t>
            </a:r>
            <a:endParaRPr sz="2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841248"/>
            <a:ext cx="987552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150"/>
              <a:buFont typeface="Arial"/>
              <a:buNone/>
            </a:pPr>
            <a:r>
              <a:rPr lang="en-US" sz="115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Cuatro releases (v0.1–v0.4): v0.1–v0.3 entregadas y mergeadas · v0.4 en construcción</a:t>
            </a:r>
            <a:endParaRPr sz="11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11567160" y="6492240"/>
            <a:ext cx="2743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1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Rounded Rectangle 128"/>
          <p:cNvSpPr/>
          <p:nvPr/>
        </p:nvSpPr>
        <p:spPr>
          <a:xfrm>
            <a:off x="548640" y="1115568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1 · Demo 1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Engagement &amp; Scope + Recon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HU-01 · HU-02 · HU-03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HU-04 · HU-22 (auth)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@enforce_scope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activo</a:t>
            </a:r>
            <a:endParaRPr sz="900" i="1" dirty="0">
              <a:solidFill>
                <a:srgbClr val="196B24"/>
              </a:solidFill>
              <a:latin typeface="Arial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548640" y="1115568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v0.1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307842" y="1115568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2 · Demo 2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Recon + Scan + Findings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Observabilidad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HU-05 · HU-06 · HU-07 · HU-08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HU-23 · INFRA-02 (CI) · INFRA-03 (lab)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findings reales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en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Mongo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307842" y="1115568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v0.2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067044" y="1115568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Sprint 3 · Demo Final (vie 19-jun)</a:t>
            </a:r>
          </a:p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0F172A"/>
                </a:solidFill>
                <a:latin typeface="Arial"/>
              </a:rPr>
              <a:t>HITL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Análisis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Reportes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Visualización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+ </a:t>
            </a:r>
            <a:r>
              <a:rPr sz="1050" b="1" dirty="0" err="1">
                <a:solidFill>
                  <a:srgbClr val="0F172A"/>
                </a:solidFill>
                <a:latin typeface="Arial"/>
              </a:rPr>
              <a:t>Validación</a:t>
            </a:r>
            <a:endParaRPr sz="1050" b="1" dirty="0">
              <a:solidFill>
                <a:srgbClr val="0F172A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HU-09 … HU-21</a:t>
            </a: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Pipeline 4/4 real · 2 PDFs · main ea6d826</a:t>
            </a: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96B24"/>
                </a:solidFill>
                <a:latin typeface="Arial"/>
              </a:rPr>
              <a:t>Hito: E2E </a:t>
            </a:r>
            <a:r>
              <a:rPr sz="900" i="1" dirty="0" err="1">
                <a:solidFill>
                  <a:srgbClr val="196B24"/>
                </a:solidFill>
                <a:latin typeface="Arial"/>
              </a:rPr>
              <a:t>sobre</a:t>
            </a:r>
            <a:r>
              <a:rPr sz="900" i="1" dirty="0">
                <a:solidFill>
                  <a:srgbClr val="196B24"/>
                </a:solidFill>
                <a:latin typeface="Arial"/>
              </a:rPr>
              <a:t> Metasploitable2 + DVWA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67044" y="1115568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96B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v0.3 · academic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✓ Entregada · merge + tag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826246" y="1115568"/>
            <a:ext cx="2603754" cy="2267712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8872" tIns="658368" rIns="100584" bIns="73152" rtlCol="0" anchor="t"/>
          <a:lstStyle/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156082"/>
                </a:solidFill>
                <a:latin typeface="Arial"/>
              </a:rPr>
              <a:t>Track </a:t>
            </a:r>
            <a:r>
              <a:rPr sz="950" b="0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950" b="0" dirty="0">
                <a:solidFill>
                  <a:srgbClr val="156082"/>
                </a:solidFill>
                <a:latin typeface="Arial"/>
              </a:rPr>
              <a:t> · Defensa Capstone</a:t>
            </a:r>
          </a:p>
          <a:p>
            <a:pPr algn="l">
              <a:spcAft>
                <a:spcPts val="500"/>
              </a:spcAft>
            </a:pPr>
            <a:r>
              <a:rPr sz="1050" b="1" dirty="0" err="1">
                <a:solidFill>
                  <a:srgbClr val="0F172A"/>
                </a:solidFill>
                <a:latin typeface="Arial"/>
              </a:rPr>
              <a:t>Despliegue</a:t>
            </a:r>
            <a:r>
              <a:rPr sz="1050" b="1" dirty="0">
                <a:solidFill>
                  <a:srgbClr val="0F172A"/>
                </a:solidFill>
                <a:latin typeface="Arial"/>
              </a:rPr>
              <a:t> real GCP + on-prem</a:t>
            </a:r>
          </a:p>
          <a:p>
            <a:pPr algn="l">
              <a:spcAft>
                <a:spcPts val="500"/>
              </a:spcAft>
            </a:pPr>
            <a:r>
              <a:rPr sz="950" b="0" dirty="0" err="1">
                <a:solidFill>
                  <a:srgbClr val="475569"/>
                </a:solidFill>
                <a:latin typeface="Arial"/>
              </a:rPr>
              <a:t>Variante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A · scan worker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aislado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Aft>
                <a:spcPts val="500"/>
              </a:spcAft>
            </a:pPr>
            <a:r>
              <a:rPr sz="950" b="0" dirty="0">
                <a:solidFill>
                  <a:srgbClr val="475569"/>
                </a:solidFill>
                <a:latin typeface="Arial"/>
              </a:rPr>
              <a:t>A1·A2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·  A3·A4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pendientes</a:t>
            </a:r>
            <a:endParaRPr sz="950" b="0" dirty="0">
              <a:solidFill>
                <a:srgbClr val="475569"/>
              </a:solidFill>
              <a:latin typeface="Arial"/>
            </a:endParaRPr>
          </a:p>
          <a:p>
            <a:pPr algn="l">
              <a:spcBef>
                <a:spcPts val="600"/>
              </a:spcBef>
            </a:pPr>
            <a:r>
              <a:rPr sz="900" i="1" dirty="0">
                <a:solidFill>
                  <a:srgbClr val="156082"/>
                </a:solidFill>
                <a:latin typeface="Arial"/>
              </a:rPr>
              <a:t>Hito: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tráfico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activo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aislado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</a:t>
            </a:r>
            <a:r>
              <a:rPr sz="900" i="1" dirty="0" err="1">
                <a:solidFill>
                  <a:srgbClr val="156082"/>
                </a:solidFill>
                <a:latin typeface="Arial"/>
              </a:rPr>
              <a:t>en</a:t>
            </a:r>
            <a:r>
              <a:rPr sz="900" i="1" dirty="0">
                <a:solidFill>
                  <a:srgbClr val="156082"/>
                </a:solidFill>
                <a:latin typeface="Arial"/>
              </a:rPr>
              <a:t> worker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26246" y="1115568"/>
            <a:ext cx="2603754" cy="566928"/>
          </a:xfrm>
          <a:prstGeom prst="roundRect">
            <a:avLst>
              <a:gd name="adj" fmla="val 9677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8288" bIns="18288" rtlCol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v0.4 · production</a:t>
            </a:r>
          </a:p>
          <a:p>
            <a:pPr algn="l"/>
            <a:r>
              <a:rPr sz="850" b="0">
                <a:solidFill>
                  <a:srgbClr val="FFFFFF"/>
                </a:solidFill>
                <a:latin typeface="Arial"/>
              </a:rPr>
              <a:t>● En construcción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48640" y="3547872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i="1">
                <a:solidFill>
                  <a:srgbClr val="64748B"/>
                </a:solidFill>
                <a:latin typeface="Arial"/>
              </a:rPr>
              <a:t>Frontera de la presentación evaluada — viernes 19-jun-2026   ·   Pista 2 continúa hacia la defensa Capstone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48640" y="3895344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AF4EC"/>
          </a:solidFill>
          <a:ln w="15875">
            <a:solidFill>
              <a:srgbClr val="196B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96B24"/>
                </a:solidFill>
                <a:latin typeface="Arial"/>
              </a:rPr>
              <a:t>Pista 1 · Demo </a:t>
            </a:r>
            <a:r>
              <a:rPr sz="1150" b="1" dirty="0" err="1">
                <a:solidFill>
                  <a:srgbClr val="196B24"/>
                </a:solidFill>
                <a:latin typeface="Arial"/>
              </a:rPr>
              <a:t>académica</a:t>
            </a:r>
            <a:r>
              <a:rPr sz="1150" b="1" dirty="0">
                <a:solidFill>
                  <a:srgbClr val="196B24"/>
                </a:solidFill>
                <a:latin typeface="Arial"/>
              </a:rPr>
              <a:t>   —   CERRADA  ✓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Pipeline 4/4 real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#26 · .10  /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eng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#27 · DVWA .20)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reportes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corregidos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(MITRE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estable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ejecutivo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sin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jerga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)  →  merge a main (ea6d826) + tag v0.3  → 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guión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ensayo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demo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080760" y="3895344"/>
            <a:ext cx="5349240" cy="2212848"/>
          </a:xfrm>
          <a:prstGeom prst="roundRect">
            <a:avLst>
              <a:gd name="adj" fmla="val 2479"/>
            </a:avLst>
          </a:prstGeom>
          <a:solidFill>
            <a:srgbClr val="E7EFF4"/>
          </a:solidFill>
          <a:ln w="15875"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28016" rIns="164592" bIns="109728" rtlCol="0" anchor="ctr"/>
          <a:lstStyle/>
          <a:p>
            <a:pPr algn="l">
              <a:spcAft>
                <a:spcPts val="700"/>
              </a:spcAft>
            </a:pPr>
            <a:r>
              <a:rPr sz="1150" b="1" dirty="0">
                <a:solidFill>
                  <a:srgbClr val="156082"/>
                </a:solidFill>
                <a:latin typeface="Arial"/>
              </a:rPr>
              <a:t>Pista 2 · Track </a:t>
            </a:r>
            <a:r>
              <a:rPr sz="1150" b="1" dirty="0" err="1">
                <a:solidFill>
                  <a:srgbClr val="156082"/>
                </a:solidFill>
                <a:latin typeface="Arial"/>
              </a:rPr>
              <a:t>productivo</a:t>
            </a:r>
            <a:r>
              <a:rPr sz="1150" b="1" dirty="0">
                <a:solidFill>
                  <a:srgbClr val="156082"/>
                </a:solidFill>
                <a:latin typeface="Arial"/>
              </a:rPr>
              <a:t>   —   EN CURSO</a:t>
            </a:r>
          </a:p>
          <a:p>
            <a:pPr algn="l"/>
            <a:r>
              <a:rPr sz="950" b="0" dirty="0">
                <a:solidFill>
                  <a:srgbClr val="475569"/>
                </a:solidFill>
                <a:latin typeface="Arial"/>
              </a:rPr>
              <a:t>A1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mapa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de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extracción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+ A2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contrato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y backend (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tabla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scan_jobs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, 192 tests)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hechos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A2-dispatch (flag worker)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curso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 →  A3 worker on-prem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en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red lab  →  A4 </a:t>
            </a:r>
            <a:r>
              <a:rPr sz="950" b="0" dirty="0" err="1">
                <a:solidFill>
                  <a:srgbClr val="475569"/>
                </a:solidFill>
                <a:latin typeface="Arial"/>
              </a:rPr>
              <a:t>despliegue</a:t>
            </a:r>
            <a:r>
              <a:rPr sz="950" b="0" dirty="0">
                <a:solidFill>
                  <a:srgbClr val="475569"/>
                </a:solidFill>
                <a:latin typeface="Arial"/>
              </a:rPr>
              <a:t> GCP + PR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100" b="0" i="0" dirty="0">
                <a:solidFill>
                  <a:srgbClr val="2E3746"/>
                </a:solidFill>
                <a:latin typeface="Calibri Light"/>
              </a:rPr>
              <a:t>EL GIRO: DE DETERMINISTA A AGENTES REALES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900000"/>
            <a:ext cx="10792000" cy="620000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 del </a:t>
            </a:r>
            <a:r>
              <a:rPr sz="1450" b="1" i="0" dirty="0" err="1">
                <a:solidFill>
                  <a:srgbClr val="ED7D31"/>
                </a:solidFill>
                <a:latin typeface="Calibri"/>
              </a:rPr>
              <a:t>profesor</a:t>
            </a:r>
            <a:r>
              <a:rPr sz="1450" b="1" i="0" dirty="0">
                <a:solidFill>
                  <a:srgbClr val="ED7D31"/>
                </a:solidFill>
                <a:latin typeface="Calibri"/>
              </a:rPr>
              <a:t>:  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“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proyecto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es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actúan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5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50" b="0" i="0" dirty="0">
                <a:solidFill>
                  <a:srgbClr val="4A4A4A"/>
                </a:solidFill>
                <a:latin typeface="Calibri"/>
              </a:rPr>
              <a:t>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0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A4A4A"/>
                </a:solidFill>
                <a:latin typeface="Calibri"/>
              </a:rPr>
              <a:t>Antes (</a:t>
            </a:r>
            <a:r>
              <a:rPr sz="1800" b="1" i="0" dirty="0" err="1">
                <a:solidFill>
                  <a:srgbClr val="4A4A4A"/>
                </a:solidFill>
                <a:latin typeface="Calibri"/>
              </a:rPr>
              <a:t>determinista</a:t>
            </a:r>
            <a:r>
              <a:rPr sz="1800" b="1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ReconAgent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checklist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fijo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ScanAgent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playbook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rígido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808080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PipelineController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secuencia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hardcodeada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de 2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6000" y="2720000"/>
            <a:ext cx="5146000" cy="260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4472C4"/>
                </a:solidFill>
                <a:latin typeface="Calibri"/>
              </a:rPr>
              <a:t>Ahora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(ADR-005)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(LLM) + 4 workers goal-driven.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Blackboard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compartido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para la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Scope + HITL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=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intocables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50" b="0" i="0" dirty="0">
                <a:solidFill>
                  <a:srgbClr val="4A4A4A"/>
                </a:solidFill>
                <a:latin typeface="Calibri"/>
              </a:rPr>
              <a:t>Lema: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estrategia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libre,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50" b="0" i="0" dirty="0" err="1">
                <a:solidFill>
                  <a:srgbClr val="4A4A4A"/>
                </a:solidFill>
                <a:latin typeface="Calibri"/>
              </a:rPr>
              <a:t>blindada</a:t>
            </a:r>
            <a:r>
              <a:rPr sz="135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71403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ARQUITECTURA DEL SOFTWARE</a:t>
            </a:r>
          </a:p>
        </p:txBody>
      </p:sp>
      <p:pic>
        <p:nvPicPr>
          <p:cNvPr id="10" name="Google Shape;137;p8" title="diagrama de arquitectura.drawio.png">
            <a:extLst>
              <a:ext uri="{FF2B5EF4-FFF2-40B4-BE49-F238E27FC236}">
                <a16:creationId xmlns:a16="http://schemas.microsoft.com/office/drawing/2014/main" id="{2A9A315E-D2B5-7A62-D764-50585DA226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0000" y="1534030"/>
            <a:ext cx="6984168" cy="5194768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7">
            <a:extLst>
              <a:ext uri="{FF2B5EF4-FFF2-40B4-BE49-F238E27FC236}">
                <a16:creationId xmlns:a16="http://schemas.microsoft.com/office/drawing/2014/main" id="{920F6F80-5AD4-EF94-C282-20D3A8CDC901}"/>
              </a:ext>
            </a:extLst>
          </p:cNvPr>
          <p:cNvSpPr txBox="1"/>
          <p:nvPr/>
        </p:nvSpPr>
        <p:spPr>
          <a:xfrm>
            <a:off x="8150000" y="2000000"/>
            <a:ext cx="3342000" cy="36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650" b="0" i="0" dirty="0" err="1">
                <a:solidFill>
                  <a:srgbClr val="2E3746"/>
                </a:solidFill>
                <a:latin typeface="Calibri"/>
              </a:rPr>
              <a:t>Híbrido</a:t>
            </a:r>
            <a:r>
              <a:rPr sz="1650" b="0" i="0" dirty="0">
                <a:solidFill>
                  <a:srgbClr val="2E3746"/>
                </a:solidFill>
                <a:latin typeface="Calibri"/>
              </a:rPr>
              <a:t> de dos </a:t>
            </a:r>
            <a:r>
              <a:rPr sz="1650" b="0" i="0" dirty="0" err="1">
                <a:solidFill>
                  <a:srgbClr val="2E3746"/>
                </a:solidFill>
                <a:latin typeface="Calibri"/>
              </a:rPr>
              <a:t>planos</a:t>
            </a:r>
            <a:endParaRPr sz="1650" b="0" i="0" dirty="0">
              <a:solidFill>
                <a:srgbClr val="2E3746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App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datos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GCP (Cloud Run, SQL, Mongo).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Escaneo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lab on-prem,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aislado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Conectividad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job-pull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on-prem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tira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trabajo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lab vulnerable NUNCA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 la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nube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dirty="0">
                <a:solidFill>
                  <a:srgbClr val="ED7D31"/>
                </a:solidFill>
                <a:latin typeface="Calibri"/>
              </a:rPr>
              <a:t>Estado: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especificada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docs/. La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entrega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actual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corre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on-prem (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0" y="72586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MODELO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558" y="2064170"/>
            <a:ext cx="3242000" cy="3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>
                <a:solidFill>
                  <a:srgbClr val="2E3746"/>
                </a:solidFill>
                <a:latin typeface="Calibri"/>
              </a:rPr>
              <a:t>Doble store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4472C4"/>
                </a:solidFill>
                <a:latin typeface="Calibri"/>
              </a:rPr>
              <a:t>PostgreSQL 15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</a:t>
            </a:r>
            <a:r>
              <a:rPr sz="1350" b="0" i="0" dirty="0" err="1">
                <a:solidFill>
                  <a:srgbClr val="767171"/>
                </a:solidFill>
                <a:latin typeface="Calibri"/>
              </a:rPr>
              <a:t>transaccional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engagements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scope_targets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hitl_actions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users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 dirty="0">
                <a:solidFill>
                  <a:srgbClr val="2E7D32"/>
                </a:solidFill>
                <a:latin typeface="Calibri"/>
              </a:rPr>
              <a:t>MongoDB 7 </a:t>
            </a:r>
            <a:r>
              <a:rPr sz="1350" b="0" i="0" dirty="0">
                <a:solidFill>
                  <a:srgbClr val="767171"/>
                </a:solidFill>
                <a:latin typeface="Calibri"/>
              </a:rPr>
              <a:t>(documental)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findings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surface_map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agent_runs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pipeline_runs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· reports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Migraciones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versionadas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con Alembic.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6447433"/>
            <a:ext cx="74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dirty="0" err="1">
                <a:solidFill>
                  <a:srgbClr val="808080"/>
                </a:solidFill>
                <a:latin typeface="Calibri"/>
              </a:rPr>
              <a:t>Diagrama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Entidad-Relación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 — Postgres (</a:t>
            </a:r>
            <a:r>
              <a:rPr sz="1050" b="0" i="0" dirty="0" err="1">
                <a:solidFill>
                  <a:srgbClr val="808080"/>
                </a:solidFill>
                <a:latin typeface="Calibri"/>
              </a:rPr>
              <a:t>transaccional</a:t>
            </a:r>
            <a:r>
              <a:rPr sz="1050" b="0" i="0" dirty="0">
                <a:solidFill>
                  <a:srgbClr val="808080"/>
                </a:solidFill>
                <a:latin typeface="Calibri"/>
              </a:rPr>
              <a:t>) + MongoDB (documental)</a:t>
            </a:r>
          </a:p>
        </p:txBody>
      </p:sp>
      <p:pic>
        <p:nvPicPr>
          <p:cNvPr id="10" name="Google Shape;146;p9" title="eth_mas_er_diagram.drawio.png">
            <a:extLst>
              <a:ext uri="{FF2B5EF4-FFF2-40B4-BE49-F238E27FC236}">
                <a16:creationId xmlns:a16="http://schemas.microsoft.com/office/drawing/2014/main" id="{72E261B9-5852-C8BF-1A97-5F3BF20CB3E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1558" y="1392388"/>
            <a:ext cx="8200000" cy="5055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TECNOLOGÍAS UTILIZADAS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4472C4"/>
                </a:solidFill>
                <a:latin typeface="Calibri"/>
              </a:rPr>
              <a:t>Backend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FastAPI · Python 3.11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Pydantic v2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Alembic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Frontend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 19 · Vite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Tailwind v4 · shadcn/ui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react-router-dom v7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8000" y="212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Datos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PostgreSQL 15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MongoDB 7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Doble store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F528F"/>
                </a:solidFill>
                <a:latin typeface="Calibri"/>
              </a:rPr>
              <a:t>IA &amp; Tools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Claude (Haiku · Opus) — API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MCP · nmap/nuclei/nikto/gobuster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OSINT · cve_lookup (NVD)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ED7D31"/>
                </a:solidFill>
                <a:latin typeface="Calibri"/>
              </a:rPr>
              <a:t>Reportería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Jinja2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WeasyPrint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PDF técnico + ejecutivo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8000" y="4040000"/>
            <a:ext cx="3384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>
                <a:solidFill>
                  <a:srgbClr val="2E7D32"/>
                </a:solidFill>
                <a:latin typeface="Calibri"/>
              </a:rPr>
              <a:t>Infraestructura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Docker / docker-compose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CI: pytest + build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00" b="0" i="0">
                <a:solidFill>
                  <a:srgbClr val="4A4A4A"/>
                </a:solidFill>
                <a:latin typeface="Calibri"/>
              </a:rPr>
              <a:t>Observabilidad SSE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130000"/>
            <a:ext cx="12191999" cy="70000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0" i="0" dirty="0">
                <a:solidFill>
                  <a:srgbClr val="2E3746"/>
                </a:solidFill>
                <a:latin typeface="Calibri"/>
              </a:rPr>
              <a:t>DEMOSTRACIÓN DEL RESULTADO DEL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0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Pipeline 4/4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etapas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Recon → Scan → Analysis → Reporter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en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vivo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6000" y="215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Findings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tabla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hallazgos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con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severidad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Analysis — popover MITRE + heatmap ATT&amp;CK + kill chains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6000" y="4170000"/>
            <a:ext cx="5216000" cy="1700000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1600" rIns="101600" rtlCol="0" anchor="ctr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300" b="0" i="0" dirty="0">
                <a:solidFill>
                  <a:srgbClr val="808080"/>
                </a:solidFill>
                <a:latin typeface="Calibri"/>
              </a:rPr>
              <a:t>📷  CAPTURA EN VIVO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dirty="0">
                <a:solidFill>
                  <a:srgbClr val="808080"/>
                </a:solidFill>
                <a:latin typeface="Calibri"/>
              </a:rPr>
              <a:t>Reports —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listado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y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descarga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de PDF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técnico</a:t>
            </a:r>
            <a:r>
              <a:rPr sz="1100" b="0" i="0" dirty="0">
                <a:solidFill>
                  <a:srgbClr val="808080"/>
                </a:solidFill>
                <a:latin typeface="Calibri"/>
              </a:rPr>
              <a:t> / </a:t>
            </a:r>
            <a:r>
              <a:rPr sz="1100" b="0" i="0" dirty="0" err="1">
                <a:solidFill>
                  <a:srgbClr val="808080"/>
                </a:solidFill>
                <a:latin typeface="Calibri"/>
              </a:rPr>
              <a:t>ejecutivo</a:t>
            </a:r>
            <a:endParaRPr sz="1100" b="0" i="0" dirty="0">
              <a:solidFill>
                <a:srgbClr val="80808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0000" y="5910000"/>
            <a:ext cx="10792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Capturas en vivo desde localhost — levantar con:  docker compose --profile lab up -d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RESULTADOS — METASPLOITABLE2 (#26)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ED7D31"/>
                </a:solidFill>
                <a:latin typeface="Calibri"/>
              </a:rPr>
              <a:t>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findings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38/38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con MITRE ATT&amp;CK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 err="1">
                <a:solidFill>
                  <a:srgbClr val="4A4A4A"/>
                </a:solidFill>
                <a:latin typeface="Calibri"/>
              </a:rPr>
              <a:t>etapas</a:t>
            </a:r>
            <a:r>
              <a:rPr sz="12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completas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794000" y="2050000"/>
            <a:ext cx="2698000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000" b="0" i="0" dirty="0">
                <a:solidFill>
                  <a:srgbClr val="4472C4"/>
                </a:solidFill>
                <a:latin typeface="Calibri"/>
              </a:rPr>
              <a:t>~11–14 min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dirty="0">
                <a:solidFill>
                  <a:srgbClr val="4A4A4A"/>
                </a:solidFill>
                <a:latin typeface="Calibri"/>
              </a:rPr>
              <a:t>E2E </a:t>
            </a:r>
            <a:r>
              <a:rPr sz="1200" b="0" i="0" dirty="0" err="1">
                <a:solidFill>
                  <a:srgbClr val="4A4A4A"/>
                </a:solidFill>
                <a:latin typeface="Calibri"/>
              </a:rPr>
              <a:t>completo</a:t>
            </a:r>
            <a:endParaRPr sz="1200" b="0" i="0" dirty="0">
              <a:solidFill>
                <a:srgbClr val="4A4A4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>
                <a:solidFill>
                  <a:srgbClr val="4472C4"/>
                </a:solidFill>
                <a:latin typeface="Calibri"/>
              </a:rPr>
              <a:t>Pipeline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completo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4472C4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4472C4"/>
                </a:solidFill>
                <a:latin typeface="Calibri"/>
              </a:rPr>
              <a:t> vulnerable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#26: Recon → Scan → Analysis → Reporter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4/4.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;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38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enriquecidos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MITRE ATT&amp;CK.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bloqueante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suspende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operador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aprueba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reanuda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técnico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(CVE / CVSS / MITRE /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RESULTADOS — DVWA (#27)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ED7D31"/>
                </a:solidFill>
                <a:latin typeface="Calibri"/>
              </a:rPr>
              <a:t>12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findings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333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2E7D32"/>
                </a:solidFill>
                <a:latin typeface="Calibri"/>
              </a:rPr>
              <a:t>4/4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etapas completas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4666" y="2050000"/>
            <a:ext cx="3597333" cy="15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4200" b="0" i="0">
                <a:solidFill>
                  <a:srgbClr val="4472C4"/>
                </a:solidFill>
                <a:latin typeface="Calibri"/>
              </a:rPr>
              <a:t>PDF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4A4A4A"/>
                </a:solidFill>
                <a:latin typeface="Calibri"/>
              </a:rPr>
              <a:t>técnico + ejecutivo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3550000"/>
            <a:ext cx="10792000" cy="22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800" b="1" i="0" dirty="0" err="1">
                <a:solidFill>
                  <a:srgbClr val="2E7D32"/>
                </a:solidFill>
                <a:latin typeface="Calibri"/>
              </a:rPr>
              <a:t>Confirmación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sobre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E7D32"/>
                </a:solidFill>
                <a:latin typeface="Calibri"/>
              </a:rPr>
              <a:t>objetivo</a:t>
            </a:r>
            <a:r>
              <a:rPr sz="1800" b="1" i="0" dirty="0">
                <a:solidFill>
                  <a:srgbClr val="2E7D32"/>
                </a:solidFill>
                <a:latin typeface="Calibri"/>
              </a:rPr>
              <a:t> web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Engagement #27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DVWA: pipeline 4/4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completo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12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web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detectados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y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persistidos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Reportes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generados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—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mismo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flujo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#26,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distinto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Demuestra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que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pipeline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generaliza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más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allá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un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único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0000" y="3360000"/>
            <a:ext cx="1500000" cy="3600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VALIDADO E2E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 dirty="0">
                <a:solidFill>
                  <a:srgbClr val="2E3746"/>
                </a:solidFill>
                <a:latin typeface="Calibri Light"/>
              </a:rPr>
              <a:t>CALIDAD Y ROBUSTEZ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 dirty="0" err="1">
                <a:solidFill>
                  <a:srgbClr val="4472C4"/>
                </a:solidFill>
                <a:latin typeface="Calibri"/>
              </a:rPr>
              <a:t>Pruebas</a:t>
            </a:r>
            <a:endParaRPr sz="165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179 tests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verdes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(14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archivos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núcleo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: scope 92% ·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scan_policy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94% · config 100%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250" b="0" i="0" dirty="0">
                <a:solidFill>
                  <a:srgbClr val="4A4A4A"/>
                </a:solidFill>
                <a:latin typeface="Calibri"/>
              </a:rPr>
              <a:t>Parser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nmap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75% · reporter 70% · runtime LLM </a:t>
            </a:r>
            <a:r>
              <a:rPr sz="125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250" b="0" i="0" dirty="0">
                <a:solidFill>
                  <a:srgbClr val="4A4A4A"/>
                </a:solidFill>
                <a:latin typeface="Calibri"/>
              </a:rPr>
              <a:t> E2E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12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E7D32"/>
                </a:solidFill>
                <a:latin typeface="Calibri"/>
              </a:rPr>
              <a:t>Estabilidad MITRE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0/29 hallazgos cambian de técnica entre corridas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(antes: 23/29 cambiaban)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Mapeo ATT&amp;CK determinista y reproducible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ED7D31"/>
                </a:solidFill>
                <a:latin typeface="Calibri"/>
              </a:rPr>
              <a:t>Anti falsos positivos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Gate de confianza sobre CVE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CVE/CVSS validados contra NVD (match por CPE)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Evita técnicas y CVE-IDs alucinados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40000"/>
            <a:ext cx="5231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50" b="1" i="0">
                <a:solidFill>
                  <a:srgbClr val="2F528F"/>
                </a:solidFill>
                <a:latin typeface="Calibri"/>
              </a:rPr>
              <a:t>Reportes según audiencia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Ejecutivo: lenguaje de negocio, sin jerga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Técnico: CVE / CVSS / MITRE / evidencia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250" b="0" i="0">
                <a:solidFill>
                  <a:srgbClr val="4A4A4A"/>
                </a:solidFill>
                <a:latin typeface="Calibri"/>
              </a:rPr>
              <a:t>CI (INFRA-02): pytest + build en cada push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200" b="0" i="0" dirty="0">
                <a:solidFill>
                  <a:srgbClr val="2E3746"/>
                </a:solidFill>
                <a:latin typeface="Calibri Light"/>
              </a:rPr>
              <a:t>ARQUITECTURA PRODUCTIVA (TO-BE)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42000" y="1180000"/>
            <a:ext cx="1900000" cy="380000"/>
          </a:xfrm>
          <a:prstGeom prst="roundRect">
            <a:avLst>
              <a:gd name="adj" fmla="val 5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2700" bIns="12700"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DISEÑADO · NO DESPLEGADO</a:t>
            </a:r>
          </a:p>
        </p:txBody>
      </p:sp>
      <p:pic>
        <p:nvPicPr>
          <p:cNvPr id="7" name="Picture 6" descr="deploy_gcp_onpr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5568" y="1880000"/>
            <a:ext cx="3728863" cy="36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0000" y="5560000"/>
            <a:ext cx="7300000" cy="36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808080"/>
                </a:solidFill>
                <a:latin typeface="Calibri"/>
              </a:rPr>
              <a:t>Despliegue productivo GCP + on-prem (job-pull) — diseño «to-be»</a:t>
            </a:r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A7687394-CA4E-0E79-BF30-6304D3DCBF21}"/>
              </a:ext>
            </a:extLst>
          </p:cNvPr>
          <p:cNvSpPr txBox="1"/>
          <p:nvPr/>
        </p:nvSpPr>
        <p:spPr>
          <a:xfrm>
            <a:off x="7850000" y="2050000"/>
            <a:ext cx="3642000" cy="37000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700" b="0" i="0" dirty="0" err="1">
                <a:solidFill>
                  <a:srgbClr val="2E3746"/>
                </a:solidFill>
                <a:latin typeface="Calibri"/>
              </a:rPr>
              <a:t>Componentes</a:t>
            </a:r>
            <a:r>
              <a:rPr sz="1700" b="0" i="0" dirty="0">
                <a:solidFill>
                  <a:srgbClr val="2E3746"/>
                </a:solidFill>
                <a:latin typeface="Calibri"/>
              </a:rPr>
              <a:t> clave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Orquestador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conversacional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+ 4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goal-driven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un blackboard.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vía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MCP (OSINT + Security).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Doble store: PostgreSQL + MongoDB.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Observabilidad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vivo (SSE).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Garantías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scope + HITL.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OBSTÁCULOS DURANTE EL DESARROLLO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 err="1">
                <a:solidFill>
                  <a:srgbClr val="ED7D31"/>
                </a:solidFill>
                <a:latin typeface="Calibri"/>
              </a:rPr>
              <a:t>Crítica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 "</a:t>
            </a:r>
            <a:r>
              <a:rPr sz="1600" b="1" i="0" dirty="0" err="1">
                <a:solidFill>
                  <a:srgbClr val="ED7D31"/>
                </a:solidFill>
                <a:latin typeface="Calibri"/>
              </a:rPr>
              <a:t>determinista</a:t>
            </a:r>
            <a:r>
              <a:rPr sz="1600" b="1" i="0" dirty="0">
                <a:solidFill>
                  <a:srgbClr val="ED7D31"/>
                </a:solidFill>
                <a:latin typeface="Calibri"/>
              </a:rPr>
              <a:t>"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Los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no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actuaban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ED7D31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Respuesta: ADR-005 —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reales goal-driven con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1000" y="2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4472C4"/>
                </a:solidFill>
                <a:latin typeface="Calibri"/>
              </a:rPr>
              <a:t>Bug anti-zombi HITL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Subprocess MCP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huérfanos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uvicorn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--reload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creaban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HITL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fantasma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init:true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tini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estado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EXPIRED + cleanup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dedup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app/DB.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E7D32"/>
                </a:solidFill>
                <a:latin typeface="Calibri"/>
              </a:rPr>
              <a:t>Scope con CIDR / URL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El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validador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rechazaba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CIDR o URL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como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target.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Fix: _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extract_host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urlparse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) +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subnet_of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, con tests.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1000" y="4080000"/>
            <a:ext cx="5231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52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600" b="1" i="0" dirty="0">
                <a:solidFill>
                  <a:srgbClr val="2F528F"/>
                </a:solidFill>
                <a:latin typeface="Calibri"/>
              </a:rPr>
              <a:t>Tools sin findings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nuclei/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nikto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/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gobuster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corrían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sin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persistir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hallazgos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F528F"/>
              </a:buClr>
              <a:buSzPct val="85000"/>
              <a:buFont typeface="Arial"/>
              <a:buChar char="▪"/>
            </a:pPr>
            <a:r>
              <a:rPr sz="1300" b="0" i="0" dirty="0" err="1">
                <a:solidFill>
                  <a:srgbClr val="4A4A4A"/>
                </a:solidFill>
                <a:latin typeface="Calibri"/>
              </a:rPr>
              <a:t>Causas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: templates, deps Perl, </a:t>
            </a:r>
            <a:r>
              <a:rPr sz="1300" b="0" i="0" dirty="0" err="1">
                <a:solidFill>
                  <a:srgbClr val="4A4A4A"/>
                </a:solidFill>
                <a:latin typeface="Calibri"/>
              </a:rPr>
              <a:t>códigos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ANSI, timeouts → fixes + 44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6188" y="330000"/>
            <a:ext cx="8200000" cy="3693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300" b="0" i="0">
                <a:solidFill>
                  <a:srgbClr val="767171"/>
                </a:solidFill>
                <a:latin typeface="Calibri"/>
              </a:rPr>
              <a:t>PROYECTO “ETH-MAS”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758027"/>
            <a:ext cx="4085617" cy="0"/>
          </a:xfrm>
          <a:prstGeom prst="bentConnector3">
            <a:avLst/>
          </a:prstGeom>
          <a:ln w="1587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" y="1000000"/>
            <a:ext cx="12191999" cy="820000"/>
          </a:xfrm>
          <a:prstGeom prst="rect">
            <a:avLst/>
          </a:prstGeom>
          <a:noFill/>
        </p:spPr>
        <p:txBody>
          <a:bodyPr wrap="square" tIns="0" bIns="0" anchor="ctr">
            <a:spAutoFit/>
          </a:bodyPr>
          <a:lstStyle/>
          <a:p>
            <a:pPr algn="ctr"/>
            <a:r>
              <a:rPr sz="3600" b="0" i="0">
                <a:solidFill>
                  <a:srgbClr val="2E3746"/>
                </a:solidFill>
                <a:latin typeface="Calibri Light"/>
              </a:rPr>
              <a:t>CONCLUSIONES Y TRABAJO FUTURO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1FB"/>
          </a:solidFill>
          <a:ln w="19050">
            <a:solidFill>
              <a:srgbClr val="447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4472C4"/>
                </a:solidFill>
                <a:latin typeface="Calibri"/>
              </a:rPr>
              <a:t>Conclusiones</a:t>
            </a:r>
            <a:endParaRPr sz="1900" b="1" i="0" dirty="0">
              <a:solidFill>
                <a:srgbClr val="4472C4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Pipeline E2E real (Recon → Scan → Analysis → Reporter)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validado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laboratorio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con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+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guardarraíles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scope y HITL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código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Evidencia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reproducible: #26 (38 findings), #27 (12 findings), 179 tests, MITRE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estable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4472C4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Se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cumplen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objetivos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del Capstone.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6000" y="2150000"/>
            <a:ext cx="5096000" cy="3550000"/>
          </a:xfrm>
          <a:prstGeom prst="roundRect">
            <a:avLst>
              <a:gd name="adj" fmla="val 6000"/>
            </a:avLst>
          </a:prstGeom>
          <a:solidFill>
            <a:srgbClr val="ECF5EC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27000" rIns="152400" bIns="101600" rtlCol="0" anchor="t"/>
          <a:lstStyle/>
          <a:p>
            <a:pPr algn="l">
              <a:spcAft>
                <a:spcPts val="700"/>
              </a:spcAft>
              <a:buNone/>
            </a:pPr>
            <a:r>
              <a:rPr sz="1900" b="1" i="0" dirty="0" err="1">
                <a:solidFill>
                  <a:srgbClr val="2E7D32"/>
                </a:solidFill>
                <a:latin typeface="Calibri"/>
              </a:rPr>
              <a:t>Trabajo</a:t>
            </a:r>
            <a:r>
              <a:rPr sz="1900" b="1" i="0" dirty="0">
                <a:solidFill>
                  <a:srgbClr val="2E7D32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2E7D32"/>
                </a:solidFill>
                <a:latin typeface="Calibri"/>
              </a:rPr>
              <a:t>futuro</a:t>
            </a:r>
            <a:endParaRPr sz="1900" b="1" i="0" dirty="0">
              <a:solidFill>
                <a:srgbClr val="2E7D32"/>
              </a:solidFill>
              <a:latin typeface="Calibri"/>
            </a:endParaRP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Desplegar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la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Variante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 (GCP + on-prem job-pull).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Ampliar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herramientas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(p.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 Shodan post-Capstone).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Reducir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tiempo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ejecución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E2E.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>
                <a:solidFill>
                  <a:srgbClr val="4A4A4A"/>
                </a:solidFill>
                <a:latin typeface="Calibri"/>
              </a:rPr>
              <a:t>Más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cobertura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de tests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sobre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los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agentes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LLM.</a:t>
            </a:r>
          </a:p>
          <a:p>
            <a:pPr marL="182880" indent="-182880"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rgbClr val="2E7D32"/>
              </a:buClr>
              <a:buSzPct val="85000"/>
              <a:buFont typeface="Arial"/>
              <a:buChar char="▪"/>
            </a:pPr>
            <a:r>
              <a:rPr sz="1400" b="0" i="0" dirty="0" err="1">
                <a:solidFill>
                  <a:srgbClr val="4A4A4A"/>
                </a:solidFill>
                <a:latin typeface="Calibri"/>
              </a:rPr>
              <a:t>Endurecer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el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anti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falsos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4A4A4A"/>
                </a:solidFill>
                <a:latin typeface="Calibri"/>
              </a:rPr>
              <a:t>positivos</a:t>
            </a:r>
            <a:r>
              <a:rPr sz="1400" b="0" i="0" dirty="0">
                <a:solidFill>
                  <a:srgbClr val="4A4A4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sset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152" y="207550"/>
            <a:ext cx="3141406" cy="7853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532024"/>
            <a:ext cx="12191999" cy="113595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4000" b="0" i="0" dirty="0">
                <a:solidFill>
                  <a:srgbClr val="2E3746"/>
                </a:solidFill>
                <a:latin typeface="Calibri"/>
              </a:rPr>
              <a:t>PREGUNTAS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dirty="0">
                <a:solidFill>
                  <a:srgbClr val="4472C4"/>
                </a:solidFill>
                <a:latin typeface="Calibri"/>
              </a:rPr>
              <a:t>Gracias.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50000"/>
            <a:ext cx="12191999" cy="55598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 dirty="0">
                <a:solidFill>
                  <a:srgbClr val="767171"/>
                </a:solidFill>
                <a:latin typeface="Calibri"/>
              </a:rPr>
              <a:t>Proyecto ETH-MAS · github.com/rodrigosantibanez1/</a:t>
            </a:r>
            <a:r>
              <a:rPr sz="1400" b="0" i="0" dirty="0" err="1">
                <a:solidFill>
                  <a:srgbClr val="767171"/>
                </a:solidFill>
                <a:latin typeface="Calibri"/>
              </a:rPr>
              <a:t>CapstoneCode</a:t>
            </a:r>
            <a:endParaRPr sz="1400" b="0" i="0" dirty="0">
              <a:solidFill>
                <a:srgbClr val="767171"/>
              </a:solidFill>
              <a:latin typeface="Calibri"/>
            </a:endParaRP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 dirty="0">
                <a:solidFill>
                  <a:srgbClr val="4A4A4A"/>
                </a:solidFill>
                <a:latin typeface="Calibri"/>
              </a:rPr>
              <a:t>Rodrigo Santibáñez · Yerson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Molina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· David</a:t>
            </a:r>
            <a:r>
              <a:rPr lang="es-CL" sz="1300" b="0" i="0" dirty="0">
                <a:solidFill>
                  <a:srgbClr val="4A4A4A"/>
                </a:solidFill>
                <a:latin typeface="Calibri"/>
              </a:rPr>
              <a:t> Garrido</a:t>
            </a:r>
            <a:r>
              <a:rPr sz="1300" b="0" i="0" dirty="0">
                <a:solidFill>
                  <a:srgbClr val="4A4A4A"/>
                </a:solidFill>
                <a:latin typeface="Calibri"/>
              </a:rPr>
              <a:t> — PTY4614 · DUOC UC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1975</Words>
  <Application>Microsoft Office PowerPoint</Application>
  <PresentationFormat>Panorámica</PresentationFormat>
  <Paragraphs>281</Paragraphs>
  <Slides>20</Slides>
  <Notes>1</Notes>
  <HiddenSlides>1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Calibri Light</vt:lpstr>
      <vt:lpstr>Play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RODRIGO ALEXANDER SANTIBANEZ SANDOVAL</cp:lastModifiedBy>
  <cp:revision>4</cp:revision>
  <dcterms:created xsi:type="dcterms:W3CDTF">2023-10-28T21:12:11Z</dcterms:created>
  <dcterms:modified xsi:type="dcterms:W3CDTF">2026-06-19T20:37:27Z</dcterms:modified>
</cp:coreProperties>
</file>