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BMQNYw0glLRDTcEtQh92VRy/e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1" y="2510486"/>
            <a:ext cx="121920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746"/>
              </a:buClr>
              <a:buSzPts val="4600"/>
              <a:buFont typeface="Calibri"/>
              <a:buNone/>
            </a:pPr>
            <a:r>
              <a:rPr b="0" i="0" lang="en-US" sz="46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PROYECTO ETH-MAS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472C4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" y="4150000"/>
            <a:ext cx="12191999" cy="597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Ethical Hacking Multi-Agent System — Pentesting asistido por IA con control humano</a:t>
            </a:r>
            <a:endParaRPr b="0" i="0" sz="1500" u="none" cap="none" strike="noStrike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76717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PTY4614 · DUOC UC · 2026     |     Rodrigo Santibáñez · Yerson Molina · David Garrido</a:t>
            </a:r>
            <a:endParaRPr b="0" i="0" sz="1300" u="none" cap="none" strike="noStrike">
              <a:solidFill>
                <a:srgbClr val="76717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/>
        </p:nvSpPr>
        <p:spPr>
          <a:xfrm>
            <a:off x="136188" y="330000"/>
            <a:ext cx="820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“ETH-MAS”</a:t>
            </a:r>
            <a:endParaRPr/>
          </a:p>
        </p:txBody>
      </p:sp>
      <p:cxnSp>
        <p:nvCxnSpPr>
          <p:cNvPr id="97" name="Google Shape;97;p2"/>
          <p:cNvCxnSpPr/>
          <p:nvPr/>
        </p:nvCxnSpPr>
        <p:spPr>
          <a:xfrm>
            <a:off x="0" y="758027"/>
            <a:ext cx="4085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8" name="Google Shape;98;p2"/>
          <p:cNvSpPr txBox="1"/>
          <p:nvPr/>
        </p:nvSpPr>
        <p:spPr>
          <a:xfrm>
            <a:off x="1" y="1000000"/>
            <a:ext cx="121920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700000" y="2250000"/>
            <a:ext cx="3357333" cy="33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165100" spcFirstLastPara="1" rIns="165100" wrap="square" tIns="2286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Rodrigo Santibáñez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76717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Backend · Auth · Frontend core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Engagement &amp; Scope (E1)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Visualización / UI (E4, E7)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Auth &amp; Gobernanza (E9)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4417333" y="2250000"/>
            <a:ext cx="3357333" cy="33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165100" spcFirstLastPara="1" rIns="165100" wrap="square" tIns="2286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Yerson Molina</a:t>
            </a:r>
            <a:endParaRPr b="0" i="0" sz="19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76717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Agentes · MCP · Scanning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ED7D31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ReconAgent &amp; ScanAgent (E2, E3)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ED7D31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Servidores MCP + tools reales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ED7D31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Laboratorio aislado (E0)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8134666" y="2250000"/>
            <a:ext cx="3357333" cy="33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2E7D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165100" spcFirstLastPara="1" rIns="165100" wrap="square" tIns="2286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David Garrido</a:t>
            </a:r>
            <a:endParaRPr b="0" i="0" sz="1900" u="none" cap="none" strike="noStrike">
              <a:solidFill>
                <a:srgbClr val="2E7D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76717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LLM · Análisis · Reportería</a:t>
            </a:r>
            <a:endParaRPr b="0" i="0" sz="1250" u="none" cap="none" strike="noStrike">
              <a:solidFill>
                <a:srgbClr val="76717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2E7D32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AnalysisAgent + MITRE/CVE (E5)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ReporterAgent PDF (E6)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2E7D32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Mapeo ATT&amp;CK / CVSS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700000" y="5770000"/>
            <a:ext cx="10792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7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Metodología: </a:t>
            </a: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Scrum · roles rotativos PO / Scrum Master por sprint · 3 devs × 8 h/sem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36188" y="330000"/>
            <a:ext cx="820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“ETH-MAS”</a:t>
            </a:r>
            <a:endParaRPr/>
          </a:p>
        </p:txBody>
      </p:sp>
      <p:cxnSp>
        <p:nvCxnSpPr>
          <p:cNvPr id="109" name="Google Shape;109;p3"/>
          <p:cNvCxnSpPr/>
          <p:nvPr/>
        </p:nvCxnSpPr>
        <p:spPr>
          <a:xfrm>
            <a:off x="0" y="758027"/>
            <a:ext cx="4085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0" name="Google Shape;110;p3"/>
          <p:cNvSpPr txBox="1"/>
          <p:nvPr/>
        </p:nvSpPr>
        <p:spPr>
          <a:xfrm>
            <a:off x="1" y="1000000"/>
            <a:ext cx="12191999" cy="8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700000" y="2250000"/>
            <a:ext cx="4646000" cy="3550000"/>
          </a:xfrm>
          <a:prstGeom prst="roundRect">
            <a:avLst>
              <a:gd fmla="val 6000" name="adj"/>
            </a:avLst>
          </a:prstGeom>
          <a:solidFill>
            <a:srgbClr val="FDF1E7"/>
          </a:solidFill>
          <a:ln cap="flat" cmpd="sng" w="19050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ED7D31"/>
              </a:buClr>
              <a:buSzPts val="1190"/>
              <a:buFont typeface="Arial"/>
              <a:buChar char="▪"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El pentesting manual es lento, depende del experto y es difícil de auditar.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190"/>
              <a:buFont typeface="Arial"/>
              <a:buChar char="▪"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Las herramientas de IA "todo-automático" pierden el control humano.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190"/>
              <a:buFont typeface="Arial"/>
              <a:buChar char="▪"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Riesgo real: un agente que se sale del alcance autorizado o ejecuta acciones de riesgo sin aprobación.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5676000" y="3700000"/>
            <a:ext cx="840000" cy="64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47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846000" y="2250000"/>
            <a:ext cx="4646000" cy="3550000"/>
          </a:xfrm>
          <a:prstGeom prst="roundRect">
            <a:avLst>
              <a:gd fmla="val 6000" name="adj"/>
            </a:avLst>
          </a:prstGeom>
          <a:solidFill>
            <a:srgbClr val="ECF1FB"/>
          </a:solidFill>
          <a:ln cap="flat" cmpd="sng" w="1905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4472C4"/>
              </a:buClr>
              <a:buSzPts val="1190"/>
              <a:buFont typeface="Arial"/>
              <a:buChar char="▪"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ETH-MAS: pipeline de pentesting asistido por IA con control humano.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190"/>
              <a:buFont typeface="Arial"/>
              <a:buChar char="▪"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4 agentes LLM (Recon → Scan → Analysis → Reporter) que invocan herramientas reales vía MCP.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190"/>
              <a:buFont typeface="Arial"/>
              <a:buChar char="▪"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Scope y HITL aplicados en código, no en el prompt. MITRE ATT&amp;CK como marco común.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 txBox="1"/>
          <p:nvPr/>
        </p:nvSpPr>
        <p:spPr>
          <a:xfrm>
            <a:off x="136188" y="330000"/>
            <a:ext cx="820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“ETH-MAS”</a:t>
            </a:r>
            <a:endParaRPr/>
          </a:p>
        </p:txBody>
      </p:sp>
      <p:cxnSp>
        <p:nvCxnSpPr>
          <p:cNvPr id="120" name="Google Shape;120;p5"/>
          <p:cNvCxnSpPr/>
          <p:nvPr/>
        </p:nvCxnSpPr>
        <p:spPr>
          <a:xfrm>
            <a:off x="0" y="758027"/>
            <a:ext cx="4085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1" name="Google Shape;121;p5"/>
          <p:cNvSpPr txBox="1"/>
          <p:nvPr/>
        </p:nvSpPr>
        <p:spPr>
          <a:xfrm>
            <a:off x="1" y="1000000"/>
            <a:ext cx="12191999" cy="8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00000" y="2200000"/>
            <a:ext cx="4400000" cy="3500000"/>
          </a:xfrm>
          <a:prstGeom prst="roundRect">
            <a:avLst>
              <a:gd fmla="val 6000" name="adj"/>
            </a:avLst>
          </a:prstGeom>
          <a:solidFill>
            <a:srgbClr val="ECF1FB"/>
          </a:solidFill>
          <a:ln cap="flat" cmpd="sng" w="1905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77800" spcFirstLastPara="1" rIns="177800" wrap="square" tIns="2032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A4A4A"/>
              </a:buClr>
              <a:buSzPts val="1450"/>
              <a:buFont typeface="Calibri"/>
              <a:buNone/>
            </a:pPr>
            <a:r>
              <a:rPr lang="en-US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Simplificar y agilizar el proceso de auditoría de ciberseguridad (pentesting) a través de una plataforma automatizada y asistida por Inteligencia Artificial, manteniendo siempre el control y la supervisión humana. 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5700000" y="2200000"/>
            <a:ext cx="5792000" cy="3658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8EAAD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77800" spcFirstLastPara="1" rIns="177800" wrap="square" tIns="1778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746"/>
              </a:buClr>
              <a:buSzPts val="1800"/>
              <a:buFont typeface="Calibri"/>
              <a:buNone/>
            </a:pPr>
            <a:r>
              <a:rPr i="0" lang="en-US" sz="20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i="0" sz="2000" u="none" cap="none" strike="noStrike">
              <a:solidFill>
                <a:srgbClr val="2E3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215" lvl="0" marL="4572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4472C4"/>
              </a:buClr>
              <a:buSzPts val="1490"/>
              <a:buChar char="▪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tiempos y costos: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Automatizar las tareas repetitivas de recolección de datos y escaneo para que los auditores se enfoquen en lo crítico.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215" lvl="0" marL="4572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4472C4"/>
              </a:buClr>
              <a:buSzPts val="1490"/>
              <a:buChar char="▪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Facilitar la toma de decisiones: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Traducir las vulnerabilidades técnicas complejas en riesgos de negocio comprensibles para la gerencia.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215" lvl="0" marL="4572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4472C4"/>
              </a:buClr>
              <a:buSzPts val="1490"/>
              <a:buChar char="▪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Garantizar operaciones seguras: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Disminuir falsos positivos y evitar caídas de servicio gracias al sistema de aprobación humana (HITL) previo a acciones riesgosas.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215" lvl="0" marL="4572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4472C4"/>
              </a:buClr>
              <a:buSzPts val="1490"/>
              <a:buChar char="▪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Estandarizar resultados: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Entregar métricas y reportes consistentes basados en marcos de ciberseguridad internacionales.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 txBox="1"/>
          <p:nvPr/>
        </p:nvSpPr>
        <p:spPr>
          <a:xfrm>
            <a:off x="136188" y="330000"/>
            <a:ext cx="820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“ETH-MAS”</a:t>
            </a:r>
            <a:endParaRPr/>
          </a:p>
        </p:txBody>
      </p:sp>
      <p:cxnSp>
        <p:nvCxnSpPr>
          <p:cNvPr id="130" name="Google Shape;130;p6"/>
          <p:cNvCxnSpPr/>
          <p:nvPr/>
        </p:nvCxnSpPr>
        <p:spPr>
          <a:xfrm>
            <a:off x="0" y="758027"/>
            <a:ext cx="4085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1" name="Google Shape;131;p6"/>
          <p:cNvSpPr txBox="1"/>
          <p:nvPr/>
        </p:nvSpPr>
        <p:spPr>
          <a:xfrm>
            <a:off x="1" y="1000000"/>
            <a:ext cx="12191999" cy="8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ALCANCES Y LIMITACIONES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700000" y="2200000"/>
            <a:ext cx="5096000" cy="3500000"/>
          </a:xfrm>
          <a:prstGeom prst="roundRect">
            <a:avLst>
              <a:gd fmla="val 6000" name="adj"/>
            </a:avLst>
          </a:prstGeom>
          <a:solidFill>
            <a:srgbClr val="ECF5EC"/>
          </a:solidFill>
          <a:ln cap="flat" cmpd="sng" w="19050">
            <a:solidFill>
              <a:srgbClr val="2E7D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/>
          </a:p>
          <a:p>
            <a:pPr indent="-320516" lvl="0" marL="45720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448"/>
              <a:buChar char="▪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Orquestación inteligente: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ETH-MAS planifica y ejecuta las 4 fases de una auditoría: Recopilación de información, Escaneo de vulnerabilidades, Análisis de resultados y Reportería.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516" lvl="0" marL="45720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448"/>
              <a:buChar char="▪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con MITRE ATT&amp;CK: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Mapea automáticamente cada vulnerabilidad encontrada con las tácticas y técnicas del framework global MITRE, mostrando exactamente cómo actuaría un atacante real.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516" lvl="0" marL="45720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448"/>
              <a:buChar char="▪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de valor dual: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Produce automáticamente un reporte técnico detallado (para el equipo TI) y un reporte ejecutivo resumido (para la gerencia).</a:t>
            </a:r>
            <a:endParaRPr sz="165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396000" y="2200000"/>
            <a:ext cx="5096000" cy="3500000"/>
          </a:xfrm>
          <a:prstGeom prst="roundRect">
            <a:avLst>
              <a:gd fmla="val 6000" name="adj"/>
            </a:avLst>
          </a:prstGeom>
          <a:solidFill>
            <a:srgbClr val="FDF1E7"/>
          </a:solidFill>
          <a:ln cap="flat" cmpd="sng" w="19050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ED7D31"/>
              </a:buClr>
              <a:buSzPts val="1148"/>
              <a:buFont typeface="Arial"/>
              <a:buChar char="▪"/>
            </a:pPr>
            <a:r>
              <a:rPr b="0" i="0" lang="en-US" sz="13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No es un producto productivo desplegado.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148"/>
              <a:buFont typeface="Arial"/>
              <a:buChar char="▪"/>
            </a:pPr>
            <a:r>
              <a:rPr b="0" i="0" lang="en-US" sz="13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El lab vulnerable nunca se expone a internet.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148"/>
              <a:buFont typeface="Arial"/>
              <a:buChar char="▪"/>
            </a:pPr>
            <a:r>
              <a:rPr b="0" i="0" lang="en-US" sz="13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Despliegue GCP/on-prem especificado, no desplegado (se entrega on-prem, Variante B).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148"/>
              <a:buFont typeface="Arial"/>
              <a:buChar char="▪"/>
            </a:pPr>
            <a:r>
              <a:rPr b="0" i="0" lang="en-US" sz="13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Modelos LLM con costo por API.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148"/>
              <a:buFont typeface="Arial"/>
              <a:buChar char="▪"/>
            </a:pPr>
            <a:r>
              <a:rPr b="0" i="0" lang="en-US" sz="13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Sin explotación destructiva de los objetivos.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136188" y="330000"/>
            <a:ext cx="820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“ETH-MAS”</a:t>
            </a:r>
            <a:endParaRPr/>
          </a:p>
        </p:txBody>
      </p:sp>
      <p:cxnSp>
        <p:nvCxnSpPr>
          <p:cNvPr id="140" name="Google Shape;140;p7"/>
          <p:cNvCxnSpPr/>
          <p:nvPr/>
        </p:nvCxnSpPr>
        <p:spPr>
          <a:xfrm>
            <a:off x="0" y="758027"/>
            <a:ext cx="4085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1" name="Google Shape;141;p7"/>
          <p:cNvSpPr txBox="1"/>
          <p:nvPr/>
        </p:nvSpPr>
        <p:spPr>
          <a:xfrm>
            <a:off x="1" y="1000000"/>
            <a:ext cx="12191999" cy="8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METODOLOGÍA DE TRABAJO</a:t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700000" y="2150000"/>
            <a:ext cx="3377333" cy="205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Scrum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Sprints de 2 semanas</a:t>
            </a:r>
            <a:endParaRPr b="0" i="0" sz="1300" u="none" cap="none" strike="noStrike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Capacity 16 SP/sprint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3 devs × 8 h/sem</a:t>
            </a:r>
            <a:endParaRPr b="0" i="0" sz="1300" u="none" cap="none" strike="noStrike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Backlog: 9 épicas · 24 HU</a:t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407333" y="2150000"/>
            <a:ext cx="3377333" cy="205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Ceremonias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ED7D31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Planning · Review · Retro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Daily asíncrono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Refinement semanal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MoSCoW + story points</a:t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8114666" y="2150000"/>
            <a:ext cx="3377333" cy="205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2E7D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Ingeniería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2E7D32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GitHub Flow (feature/HU-NN)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Conventional Commits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DoR / DoD definidos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CI: pytest + build por push</a:t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700000" y="4500000"/>
            <a:ext cx="10792000" cy="1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7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Resultado: </a:t>
            </a: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trazabilidad HU ↔ código ↔ commit; entregas demostrables en cada sprint (Demo 1, Demo 2, Demo Final).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 txBox="1"/>
          <p:nvPr/>
        </p:nvSpPr>
        <p:spPr>
          <a:xfrm>
            <a:off x="136188" y="330000"/>
            <a:ext cx="820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“ETH-MAS”</a:t>
            </a:r>
            <a:endParaRPr/>
          </a:p>
        </p:txBody>
      </p:sp>
      <p:cxnSp>
        <p:nvCxnSpPr>
          <p:cNvPr id="152" name="Google Shape;152;p8"/>
          <p:cNvCxnSpPr/>
          <p:nvPr/>
        </p:nvCxnSpPr>
        <p:spPr>
          <a:xfrm>
            <a:off x="0" y="758027"/>
            <a:ext cx="4085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3" name="Google Shape;153;p8"/>
          <p:cNvSpPr txBox="1"/>
          <p:nvPr/>
        </p:nvSpPr>
        <p:spPr>
          <a:xfrm>
            <a:off x="-1" y="619765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Rele</a:t>
            </a:r>
            <a:r>
              <a:rPr b="0" i="0" lang="en-US" sz="36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36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se plan</a:t>
            </a:r>
            <a:endParaRPr/>
          </a:p>
        </p:txBody>
      </p:sp>
      <p:pic>
        <p:nvPicPr>
          <p:cNvPr id="154" name="Google Shape;154;p8" title="qwerasd.jpg"/>
          <p:cNvPicPr preferRelativeResize="0"/>
          <p:nvPr/>
        </p:nvPicPr>
        <p:blipFill rotWithShape="1">
          <a:blip r:embed="rId4">
            <a:alphaModFix/>
          </a:blip>
          <a:srcRect b="0" l="0" r="0" t="9519"/>
          <a:stretch/>
        </p:blipFill>
        <p:spPr>
          <a:xfrm>
            <a:off x="1909750" y="1173875"/>
            <a:ext cx="8091499" cy="559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159" name="Google Shape;1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0"/>
          <p:cNvSpPr txBox="1"/>
          <p:nvPr/>
        </p:nvSpPr>
        <p:spPr>
          <a:xfrm>
            <a:off x="136188" y="330000"/>
            <a:ext cx="820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“ETH-MAS”</a:t>
            </a:r>
            <a:endParaRPr/>
          </a:p>
        </p:txBody>
      </p:sp>
      <p:cxnSp>
        <p:nvCxnSpPr>
          <p:cNvPr id="161" name="Google Shape;161;p10"/>
          <p:cNvCxnSpPr/>
          <p:nvPr/>
        </p:nvCxnSpPr>
        <p:spPr>
          <a:xfrm>
            <a:off x="0" y="758027"/>
            <a:ext cx="4085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2" name="Google Shape;162;p10"/>
          <p:cNvSpPr txBox="1"/>
          <p:nvPr/>
        </p:nvSpPr>
        <p:spPr>
          <a:xfrm>
            <a:off x="1" y="714030"/>
            <a:ext cx="12191999" cy="8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sp>
        <p:nvSpPr>
          <p:cNvPr id="163" name="Google Shape;163;p10"/>
          <p:cNvSpPr txBox="1"/>
          <p:nvPr/>
        </p:nvSpPr>
        <p:spPr>
          <a:xfrm>
            <a:off x="8150000" y="2000000"/>
            <a:ext cx="3342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746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Híbrido de dos planos</a:t>
            </a:r>
            <a:endParaRPr b="0" i="0" sz="1650" u="none" cap="none" strike="noStrike">
              <a:solidFill>
                <a:srgbClr val="2E37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App + datos en GCP (Cloud Run, SQL, Mongo).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Escaneo + lab on-prem, aislado.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Conectividad job-pull (el on-prem tira trabajo).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El lab vulnerable NUNCA va a la nube.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ED7D3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Estado: </a:t>
            </a: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especificada en docs/. La entrega actual corre on-prem (Variante B).</a:t>
            </a:r>
            <a:endParaRPr/>
          </a:p>
        </p:txBody>
      </p:sp>
      <p:pic>
        <p:nvPicPr>
          <p:cNvPr id="164" name="Google Shape;164;p10" title="arquitectur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00" y="1434430"/>
            <a:ext cx="7845201" cy="4551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169" name="Google Shape;1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1"/>
          <p:cNvSpPr txBox="1"/>
          <p:nvPr/>
        </p:nvSpPr>
        <p:spPr>
          <a:xfrm>
            <a:off x="136188" y="330000"/>
            <a:ext cx="820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“ETH-MAS”</a:t>
            </a:r>
            <a:endParaRPr/>
          </a:p>
        </p:txBody>
      </p:sp>
      <p:cxnSp>
        <p:nvCxnSpPr>
          <p:cNvPr id="171" name="Google Shape;171;p11"/>
          <p:cNvCxnSpPr/>
          <p:nvPr/>
        </p:nvCxnSpPr>
        <p:spPr>
          <a:xfrm>
            <a:off x="0" y="758027"/>
            <a:ext cx="4085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2" name="Google Shape;172;p11"/>
          <p:cNvSpPr txBox="1"/>
          <p:nvPr/>
        </p:nvSpPr>
        <p:spPr>
          <a:xfrm>
            <a:off x="0" y="725860"/>
            <a:ext cx="12191999" cy="8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sp>
        <p:nvSpPr>
          <p:cNvPr id="173" name="Google Shape;173;p11"/>
          <p:cNvSpPr txBox="1"/>
          <p:nvPr/>
        </p:nvSpPr>
        <p:spPr>
          <a:xfrm>
            <a:off x="8671558" y="2064170"/>
            <a:ext cx="3242000" cy="3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746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Doble store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4472C4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PostgreSQL 15 </a:t>
            </a:r>
            <a:r>
              <a:rPr b="0" i="0" lang="en-US" sz="1350" u="none" cap="none" strike="noStrik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(transaccional)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4472C4"/>
              </a:buClr>
              <a:buSzPts val="1063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engagements · scope_targets · hitl_actions · users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2E7D3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MongoDB 7 </a:t>
            </a:r>
            <a:r>
              <a:rPr b="0" i="0" lang="en-US" sz="1350" u="none" cap="none" strike="noStrik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(documental)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E7D32"/>
              </a:buClr>
              <a:buSzPts val="1063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findings · surface_map · agent_runs · pipeline_runs · reports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ED7D31"/>
              </a:buClr>
              <a:buSzPts val="1063"/>
              <a:buFont typeface="Arial"/>
              <a:buChar char="▪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Migraciones versionadas con Alembic.</a:t>
            </a:r>
            <a:endParaRPr/>
          </a:p>
        </p:txBody>
      </p:sp>
      <p:sp>
        <p:nvSpPr>
          <p:cNvPr id="174" name="Google Shape;174;p11"/>
          <p:cNvSpPr txBox="1"/>
          <p:nvPr/>
        </p:nvSpPr>
        <p:spPr>
          <a:xfrm>
            <a:off x="700000" y="6447433"/>
            <a:ext cx="74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Diagrama Entidad-Relación — Postgres (transaccional) + MongoDB (documental)</a:t>
            </a:r>
            <a:endParaRPr/>
          </a:p>
        </p:txBody>
      </p:sp>
      <p:pic>
        <p:nvPicPr>
          <p:cNvPr id="175" name="Google Shape;17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00" y="1572385"/>
            <a:ext cx="7920260" cy="4596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180" name="Google Shape;1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2"/>
          <p:cNvSpPr txBox="1"/>
          <p:nvPr/>
        </p:nvSpPr>
        <p:spPr>
          <a:xfrm>
            <a:off x="136188" y="330000"/>
            <a:ext cx="820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“ETH-MAS”</a:t>
            </a:r>
            <a:endParaRPr/>
          </a:p>
        </p:txBody>
      </p:sp>
      <p:cxnSp>
        <p:nvCxnSpPr>
          <p:cNvPr id="182" name="Google Shape;182;p12"/>
          <p:cNvCxnSpPr/>
          <p:nvPr/>
        </p:nvCxnSpPr>
        <p:spPr>
          <a:xfrm>
            <a:off x="0" y="758027"/>
            <a:ext cx="4085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3" name="Google Shape;183;p12"/>
          <p:cNvSpPr txBox="1"/>
          <p:nvPr/>
        </p:nvSpPr>
        <p:spPr>
          <a:xfrm>
            <a:off x="1" y="1000000"/>
            <a:ext cx="12191999" cy="8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sp>
        <p:nvSpPr>
          <p:cNvPr id="184" name="Google Shape;184;p12"/>
          <p:cNvSpPr/>
          <p:nvPr/>
        </p:nvSpPr>
        <p:spPr>
          <a:xfrm>
            <a:off x="700000" y="2120000"/>
            <a:ext cx="3384000" cy="162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587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4472C4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FastAPI · Python 3.11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Pydantic v2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Alembic</a:t>
            </a: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4404000" y="2120000"/>
            <a:ext cx="3384000" cy="162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5875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ED7D31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React 19 · Vite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Tailwind v4 · shadcn/ui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react-router-dom v7</a:t>
            </a:r>
            <a:endParaRPr/>
          </a:p>
        </p:txBody>
      </p:sp>
      <p:sp>
        <p:nvSpPr>
          <p:cNvPr id="186" name="Google Shape;186;p12"/>
          <p:cNvSpPr/>
          <p:nvPr/>
        </p:nvSpPr>
        <p:spPr>
          <a:xfrm>
            <a:off x="8108000" y="2120000"/>
            <a:ext cx="3384000" cy="162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5875">
            <a:solidFill>
              <a:srgbClr val="2E7D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2E7D32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PostgreSQL 15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MongoDB 7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Doble store</a:t>
            </a: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700000" y="4040000"/>
            <a:ext cx="3384000" cy="162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5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28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F528F"/>
                </a:solidFill>
                <a:latin typeface="Calibri"/>
                <a:ea typeface="Calibri"/>
                <a:cs typeface="Calibri"/>
                <a:sym typeface="Calibri"/>
              </a:rPr>
              <a:t>IA &amp; Tools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2F528F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Claude (Haiku · Opus) — API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F528F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MCP · nmap/nuclei/nikto/gobuster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F528F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OSINT · cve_lookup (NVD)</a:t>
            </a:r>
            <a:endParaRPr/>
          </a:p>
        </p:txBody>
      </p:sp>
      <p:sp>
        <p:nvSpPr>
          <p:cNvPr id="188" name="Google Shape;188;p12"/>
          <p:cNvSpPr/>
          <p:nvPr/>
        </p:nvSpPr>
        <p:spPr>
          <a:xfrm>
            <a:off x="4404000" y="4040000"/>
            <a:ext cx="3384000" cy="162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5875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Reportería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ED7D31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Jinja2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WeasyPrint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PDF técnico + ejecutivo</a:t>
            </a:r>
            <a:endParaRPr/>
          </a:p>
        </p:txBody>
      </p:sp>
      <p:sp>
        <p:nvSpPr>
          <p:cNvPr id="189" name="Google Shape;189;p12"/>
          <p:cNvSpPr/>
          <p:nvPr/>
        </p:nvSpPr>
        <p:spPr>
          <a:xfrm>
            <a:off x="8108000" y="4040000"/>
            <a:ext cx="3384000" cy="162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5875">
            <a:solidFill>
              <a:srgbClr val="2E7D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Infraestructura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2E7D32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Docker / docker-compose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CI: pytest + build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02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Observabilidad SSE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194" name="Google Shape;1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3"/>
          <p:cNvSpPr txBox="1"/>
          <p:nvPr/>
        </p:nvSpPr>
        <p:spPr>
          <a:xfrm>
            <a:off x="-62925" y="521800"/>
            <a:ext cx="121920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746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Lista vulnerabilidades Laboratorio</a:t>
            </a:r>
            <a:endParaRPr/>
          </a:p>
        </p:txBody>
      </p:sp>
      <p:pic>
        <p:nvPicPr>
          <p:cNvPr id="196" name="Google Shape;19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82400"/>
            <a:ext cx="6972300" cy="44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7100" y="1982400"/>
            <a:ext cx="4029075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3"/>
          <p:cNvSpPr txBox="1"/>
          <p:nvPr/>
        </p:nvSpPr>
        <p:spPr>
          <a:xfrm>
            <a:off x="152400" y="1438500"/>
            <a:ext cx="69723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746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Maquina 1</a:t>
            </a:r>
            <a:endParaRPr/>
          </a:p>
        </p:txBody>
      </p:sp>
      <p:sp>
        <p:nvSpPr>
          <p:cNvPr id="199" name="Google Shape;199;p13"/>
          <p:cNvSpPr txBox="1"/>
          <p:nvPr/>
        </p:nvSpPr>
        <p:spPr>
          <a:xfrm>
            <a:off x="7337650" y="1438500"/>
            <a:ext cx="40290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50800" spcFirstLastPara="1" rIns="50800" wrap="square" tIns="254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746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Maquina 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204" name="Google Shape;2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136188" y="330000"/>
            <a:ext cx="819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“ETH-MAS”</a:t>
            </a:r>
            <a:endParaRPr/>
          </a:p>
        </p:txBody>
      </p:sp>
      <p:cxnSp>
        <p:nvCxnSpPr>
          <p:cNvPr id="206" name="Google Shape;206;p18"/>
          <p:cNvCxnSpPr/>
          <p:nvPr/>
        </p:nvCxnSpPr>
        <p:spPr>
          <a:xfrm>
            <a:off x="0" y="758027"/>
            <a:ext cx="4085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7" name="Google Shape;207;p18"/>
          <p:cNvSpPr txBox="1"/>
          <p:nvPr/>
        </p:nvSpPr>
        <p:spPr>
          <a:xfrm>
            <a:off x="1" y="1000000"/>
            <a:ext cx="121920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RESULTADOS — METASPLOITABLE2 (#26)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700000" y="2050000"/>
            <a:ext cx="26979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4000"/>
              <a:buFont typeface="Calibri"/>
              <a:buNone/>
            </a:pPr>
            <a:r>
              <a:rPr b="0" i="0" lang="en-US" sz="40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findings reales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3398000" y="2050000"/>
            <a:ext cx="26979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4000"/>
              <a:buFont typeface="Calibri"/>
              <a:buNone/>
            </a:pPr>
            <a:r>
              <a:rPr b="0" i="0" lang="en-US" sz="4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38/38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con MITRE ATT&amp;CK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096000" y="2050000"/>
            <a:ext cx="26979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4000"/>
              <a:buFont typeface="Calibri"/>
              <a:buNone/>
            </a:pPr>
            <a:r>
              <a:rPr b="0" i="0" lang="en-US" sz="4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4/4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etapas completas</a:t>
            </a:r>
            <a:endParaRPr b="0" i="0" sz="12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8794000" y="2050000"/>
            <a:ext cx="26979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4000"/>
              <a:buFont typeface="Calibri"/>
              <a:buNone/>
            </a:pPr>
            <a:r>
              <a:rPr b="0" i="0" lang="en-US" sz="40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~11–14 min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E2E completo</a:t>
            </a:r>
            <a:endParaRPr b="0" i="0" sz="1200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700000" y="3550000"/>
            <a:ext cx="10791900" cy="2250000"/>
          </a:xfrm>
          <a:prstGeom prst="roundRect">
            <a:avLst>
              <a:gd fmla="val 6000" name="adj"/>
            </a:avLst>
          </a:prstGeom>
          <a:solidFill>
            <a:srgbClr val="ECF1FB"/>
          </a:solidFill>
          <a:ln cap="flat" cmpd="sng" w="1905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800"/>
              <a:buFont typeface="Calibri"/>
              <a:buNone/>
            </a:pPr>
            <a:r>
              <a:rPr b="1" i="0" lang="en-US" sz="1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Pipeline completo sobre objetivo vulnerable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4472C4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Engagement #26: Recon → Scan → Analysis → Reporter ejecutado 4/4.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38 hallazgos reales persistidos; los 38 enriquecidos con técnica MITRE ATT&amp;CK.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HITL bloqueante validado: el agente se suspende, el operador aprueba y el pipeline reanuda.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Reportes técnico y ejecutivo generados (CVE / CVSS / MITRE / evidencia).</a:t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700000" y="3360000"/>
            <a:ext cx="1500000" cy="360000"/>
          </a:xfrm>
          <a:prstGeom prst="roundRect">
            <a:avLst>
              <a:gd fmla="val 5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VALIDADO E2E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218" name="Google Shape;2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136188" y="330000"/>
            <a:ext cx="820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“ETH-MAS”</a:t>
            </a:r>
            <a:endParaRPr/>
          </a:p>
        </p:txBody>
      </p:sp>
      <p:cxnSp>
        <p:nvCxnSpPr>
          <p:cNvPr id="220" name="Google Shape;220;p19"/>
          <p:cNvCxnSpPr/>
          <p:nvPr/>
        </p:nvCxnSpPr>
        <p:spPr>
          <a:xfrm>
            <a:off x="0" y="758027"/>
            <a:ext cx="4085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1" name="Google Shape;221;p19"/>
          <p:cNvSpPr txBox="1"/>
          <p:nvPr/>
        </p:nvSpPr>
        <p:spPr>
          <a:xfrm>
            <a:off x="1" y="1000000"/>
            <a:ext cx="12191999" cy="8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RESULTADOS — DVWA (#27)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700000" y="2050000"/>
            <a:ext cx="3597333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4200"/>
              <a:buFont typeface="Calibri"/>
              <a:buNone/>
            </a:pPr>
            <a:r>
              <a:rPr b="0" i="0" lang="en-US" sz="42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findings web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4297333" y="2050000"/>
            <a:ext cx="3597333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4200"/>
              <a:buFont typeface="Calibri"/>
              <a:buNone/>
            </a:pPr>
            <a:r>
              <a:rPr b="0" i="0" lang="en-US" sz="42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4/4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etapas completas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7894666" y="2050000"/>
            <a:ext cx="3597333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4200"/>
              <a:buFont typeface="Calibri"/>
              <a:buNone/>
            </a:pPr>
            <a:r>
              <a:rPr b="0" i="0" lang="en-US" sz="42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PDF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técnico + ejecutivo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700000" y="3550000"/>
            <a:ext cx="10792000" cy="2250000"/>
          </a:xfrm>
          <a:prstGeom prst="roundRect">
            <a:avLst>
              <a:gd fmla="val 6000" name="adj"/>
            </a:avLst>
          </a:prstGeom>
          <a:solidFill>
            <a:srgbClr val="ECF5EC"/>
          </a:solidFill>
          <a:ln cap="flat" cmpd="sng" w="19050">
            <a:solidFill>
              <a:srgbClr val="2E7D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800"/>
              <a:buFont typeface="Calibri"/>
              <a:buNone/>
            </a:pPr>
            <a:r>
              <a:rPr b="1" i="0" lang="en-US" sz="18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Confirmación sobre objetivo web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2E7D32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Engagement #27 sobre DVWA: pipeline 4/4 completo.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12 hallazgos web detectados y persistidos.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Reportes generados — mismo flujo que #26, distinto tipo de objetivo.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Demuestra que el pipeline generaliza más allá de un único target.</a:t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700000" y="3360000"/>
            <a:ext cx="1500000" cy="360000"/>
          </a:xfrm>
          <a:prstGeom prst="roundRect">
            <a:avLst>
              <a:gd fmla="val 5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VALIDADO E2E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231" name="Google Shape;2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136188" y="330000"/>
            <a:ext cx="820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“ETH-MAS”</a:t>
            </a:r>
            <a:endParaRPr/>
          </a:p>
        </p:txBody>
      </p:sp>
      <p:cxnSp>
        <p:nvCxnSpPr>
          <p:cNvPr id="233" name="Google Shape;233;p20"/>
          <p:cNvCxnSpPr/>
          <p:nvPr/>
        </p:nvCxnSpPr>
        <p:spPr>
          <a:xfrm>
            <a:off x="0" y="758027"/>
            <a:ext cx="4085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4" name="Google Shape;234;p20"/>
          <p:cNvSpPr txBox="1"/>
          <p:nvPr/>
        </p:nvSpPr>
        <p:spPr>
          <a:xfrm>
            <a:off x="1" y="1000000"/>
            <a:ext cx="12191999" cy="8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CALIDAD Y ROBUSTEZ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700000" y="2120000"/>
            <a:ext cx="5231000" cy="162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587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650"/>
              <a:buFont typeface="Calibri"/>
              <a:buNone/>
            </a:pPr>
            <a:r>
              <a:rPr b="1" i="0" lang="en-US" sz="165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b="1" i="0" sz="1650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4472C4"/>
              </a:buClr>
              <a:buSzPts val="1063"/>
              <a:buFont typeface="Arial"/>
              <a:buChar char="▪"/>
            </a:pPr>
            <a:r>
              <a:rPr b="0" i="0" lang="en-US" sz="125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179 tests verdes (14 archivos)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063"/>
              <a:buFont typeface="Arial"/>
              <a:buChar char="▪"/>
            </a:pPr>
            <a:r>
              <a:rPr b="0" i="0" lang="en-US" sz="125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Cobertura núcleo: scope 92% · scan_policy 94% · config 100%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063"/>
              <a:buFont typeface="Arial"/>
              <a:buChar char="▪"/>
            </a:pPr>
            <a:r>
              <a:rPr b="0" i="0" lang="en-US" sz="125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Parser nmap 75% · reporter 70% · runtime LLM validado E2E</a:t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6261000" y="2120000"/>
            <a:ext cx="5231000" cy="162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5875">
            <a:solidFill>
              <a:srgbClr val="2E7D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50"/>
              <a:buFont typeface="Calibri"/>
              <a:buNone/>
            </a:pPr>
            <a:r>
              <a:rPr b="1" i="0" lang="en-US" sz="165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Estabilidad MITRE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2E7D32"/>
              </a:buClr>
              <a:buSzPts val="1063"/>
              <a:buFont typeface="Arial"/>
              <a:buChar char="▪"/>
            </a:pPr>
            <a:r>
              <a:rPr b="0" i="0" lang="en-US" sz="125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0/29 hallazgos cambian de técnica entre corridas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063"/>
              <a:buFont typeface="Arial"/>
              <a:buChar char="▪"/>
            </a:pPr>
            <a:r>
              <a:rPr b="0" i="0" lang="en-US" sz="125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(antes: 23/29 cambiaban)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063"/>
              <a:buFont typeface="Arial"/>
              <a:buChar char="▪"/>
            </a:pPr>
            <a:r>
              <a:rPr b="0" i="0" lang="en-US" sz="125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Mapeo ATT&amp;CK determinista y reproducible</a:t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700000" y="4040000"/>
            <a:ext cx="5231000" cy="162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5875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650"/>
              <a:buFont typeface="Calibri"/>
              <a:buNone/>
            </a:pPr>
            <a:r>
              <a:rPr b="1" i="0" lang="en-US" sz="165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Anti falsos positivos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ED7D31"/>
              </a:buClr>
              <a:buSzPts val="1063"/>
              <a:buFont typeface="Arial"/>
              <a:buChar char="▪"/>
            </a:pPr>
            <a:r>
              <a:rPr b="0" i="0" lang="en-US" sz="125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Gate de confianza sobre CVE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063"/>
              <a:buFont typeface="Arial"/>
              <a:buChar char="▪"/>
            </a:pPr>
            <a:r>
              <a:rPr b="0" i="0" lang="en-US" sz="125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CVE/CVSS validados contra NVD (match por CPE)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063"/>
              <a:buFont typeface="Arial"/>
              <a:buChar char="▪"/>
            </a:pPr>
            <a:r>
              <a:rPr b="0" i="0" lang="en-US" sz="125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Evita técnicas y CVE-IDs alucinados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6261000" y="4040000"/>
            <a:ext cx="5231000" cy="162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5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28F"/>
              </a:buClr>
              <a:buSzPts val="1650"/>
              <a:buFont typeface="Calibri"/>
              <a:buNone/>
            </a:pPr>
            <a:r>
              <a:rPr b="1" i="0" lang="en-US" sz="1650">
                <a:solidFill>
                  <a:srgbClr val="2F528F"/>
                </a:solidFill>
                <a:latin typeface="Calibri"/>
                <a:ea typeface="Calibri"/>
                <a:cs typeface="Calibri"/>
                <a:sym typeface="Calibri"/>
              </a:rPr>
              <a:t>Reportes según audiencia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2F528F"/>
              </a:buClr>
              <a:buSzPts val="1063"/>
              <a:buFont typeface="Arial"/>
              <a:buChar char="▪"/>
            </a:pPr>
            <a:r>
              <a:rPr b="0" i="0" lang="en-US" sz="125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Ejecutivo: lenguaje de negocio, sin jerga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F528F"/>
              </a:buClr>
              <a:buSzPts val="1063"/>
              <a:buFont typeface="Arial"/>
              <a:buChar char="▪"/>
            </a:pPr>
            <a:r>
              <a:rPr b="0" i="0" lang="en-US" sz="125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Técnico: CVE / CVSS / MITRE / evidencia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F528F"/>
              </a:buClr>
              <a:buSzPts val="1063"/>
              <a:buFont typeface="Arial"/>
              <a:buChar char="▪"/>
            </a:pPr>
            <a:r>
              <a:rPr b="0" i="0" lang="en-US" sz="125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CI (INFRA-02): pytest + build en cada push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243" name="Google Shape;2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136188" y="330000"/>
            <a:ext cx="820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“ETH-MAS”</a:t>
            </a:r>
            <a:endParaRPr/>
          </a:p>
        </p:txBody>
      </p:sp>
      <p:cxnSp>
        <p:nvCxnSpPr>
          <p:cNvPr id="245" name="Google Shape;245;p21"/>
          <p:cNvCxnSpPr/>
          <p:nvPr/>
        </p:nvCxnSpPr>
        <p:spPr>
          <a:xfrm>
            <a:off x="0" y="758027"/>
            <a:ext cx="4085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6" name="Google Shape;246;p21"/>
          <p:cNvSpPr txBox="1"/>
          <p:nvPr/>
        </p:nvSpPr>
        <p:spPr>
          <a:xfrm>
            <a:off x="1" y="1000000"/>
            <a:ext cx="12191999" cy="8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ARQUITECTURA PRODUCTIVA (TO-BE)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9642000" y="1180000"/>
            <a:ext cx="1900000" cy="380000"/>
          </a:xfrm>
          <a:prstGeom prst="roundRect">
            <a:avLst>
              <a:gd fmla="val 50000" name="adj"/>
            </a:avLst>
          </a:prstGeom>
          <a:solidFill>
            <a:srgbClr val="ED7D31"/>
          </a:solidFill>
          <a:ln>
            <a:noFill/>
          </a:ln>
        </p:spPr>
        <p:txBody>
          <a:bodyPr anchorCtr="0" anchor="ctr" bIns="12700" lIns="91425" spcFirstLastPara="1" rIns="91425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DISEÑADO · NO DESPLEGADO</a:t>
            </a:r>
            <a:endParaRPr/>
          </a:p>
        </p:txBody>
      </p:sp>
      <p:pic>
        <p:nvPicPr>
          <p:cNvPr descr="deploy_gcp_onprem.png" id="248" name="Google Shape;24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5568" y="1880000"/>
            <a:ext cx="3728863" cy="36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/>
        </p:nvSpPr>
        <p:spPr>
          <a:xfrm>
            <a:off x="700000" y="5560000"/>
            <a:ext cx="73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050"/>
              <a:buFont typeface="Calibri"/>
              <a:buNone/>
            </a:pPr>
            <a:r>
              <a:rPr b="0" i="0" lang="en-US" sz="105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Despliegue productivo GCP + on-prem (job-pull) — diseño «to-be»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7850000" y="2050000"/>
            <a:ext cx="3642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746"/>
              </a:buClr>
              <a:buSzPts val="1700"/>
              <a:buFont typeface="Calibri"/>
              <a:buNone/>
            </a:pPr>
            <a:r>
              <a:rPr b="0" i="0" lang="en-US" sz="1700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Componentes clave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Orquestador conversacional + 4 agentes goal-driven sobre un blackboard.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Herramientas reales vía MCP (OSINT + Security).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Doble store: PostgreSQL + MongoDB.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Observabilidad en vivo (SSE).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Garantías en código: scope + HITL.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255" name="Google Shape;2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136188" y="330000"/>
            <a:ext cx="820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“ETH-MAS”</a:t>
            </a:r>
            <a:endParaRPr/>
          </a:p>
        </p:txBody>
      </p:sp>
      <p:cxnSp>
        <p:nvCxnSpPr>
          <p:cNvPr id="257" name="Google Shape;257;p22"/>
          <p:cNvCxnSpPr/>
          <p:nvPr/>
        </p:nvCxnSpPr>
        <p:spPr>
          <a:xfrm>
            <a:off x="0" y="758027"/>
            <a:ext cx="4085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8" name="Google Shape;258;p22"/>
          <p:cNvSpPr txBox="1"/>
          <p:nvPr/>
        </p:nvSpPr>
        <p:spPr>
          <a:xfrm>
            <a:off x="1" y="1000000"/>
            <a:ext cx="12191999" cy="8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OBSTÁCULOS DURANTE EL DESARROLLO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700000" y="2080000"/>
            <a:ext cx="5231000" cy="17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5875">
            <a:solidFill>
              <a:srgbClr val="ED7D3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600"/>
              <a:buFont typeface="Calibri"/>
              <a:buNone/>
            </a:pPr>
            <a:r>
              <a:rPr b="1" i="0" lang="en-US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Crítica "determinista"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ED7D31"/>
              </a:buClr>
              <a:buSzPts val="1105"/>
              <a:buFont typeface="Arial"/>
              <a:buChar char="▪"/>
            </a:pPr>
            <a:r>
              <a:rPr b="0" i="0"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Los agentes no actuaban como agentes.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ED7D31"/>
              </a:buClr>
              <a:buSzPts val="1105"/>
              <a:buFont typeface="Arial"/>
              <a:buChar char="▪"/>
            </a:pPr>
            <a:r>
              <a:rPr b="0" i="0"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Respuesta: ADR-005 — agentes reales goal-driven con guardarraíles en código.</a:t>
            </a: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6261000" y="2080000"/>
            <a:ext cx="5231000" cy="17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5875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600"/>
              <a:buFont typeface="Calibri"/>
              <a:buNone/>
            </a:pPr>
            <a:r>
              <a:rPr b="1" i="0" lang="en-US" sz="16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Bug anti-zombi HITL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Subprocess MCP huérfanos por uvicorn --reload creaban HITL fantasma.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105"/>
              <a:buFont typeface="Arial"/>
              <a:buChar char="▪"/>
            </a:pPr>
            <a:r>
              <a:rPr b="0" i="0"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Fix: init:true (tini) + estado EXPIRED + cleanup + dedup app/DB.</a:t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700000" y="4080000"/>
            <a:ext cx="5231000" cy="17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5875">
            <a:solidFill>
              <a:srgbClr val="2E7D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Calibri"/>
              <a:buNone/>
            </a:pPr>
            <a:r>
              <a:rPr b="1" i="0" lang="en-US" sz="16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Scope con CIDR / URL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2E7D32"/>
              </a:buClr>
              <a:buSzPts val="1105"/>
              <a:buFont typeface="Arial"/>
              <a:buChar char="▪"/>
            </a:pPr>
            <a:r>
              <a:rPr b="0" i="0"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El validador rechazaba CIDR o URL como target.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105"/>
              <a:buFont typeface="Arial"/>
              <a:buChar char="▪"/>
            </a:pPr>
            <a:r>
              <a:rPr b="0" i="0"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Fix: _extract_host (urlparse) + subnet_of, con tests.</a:t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6261000" y="4080000"/>
            <a:ext cx="5231000" cy="17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5875">
            <a:solidFill>
              <a:srgbClr val="2F52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28F"/>
              </a:buClr>
              <a:buSzPts val="1600"/>
              <a:buFont typeface="Calibri"/>
              <a:buNone/>
            </a:pPr>
            <a:r>
              <a:rPr b="1" i="0" lang="en-US" sz="1600">
                <a:solidFill>
                  <a:srgbClr val="2F528F"/>
                </a:solidFill>
                <a:latin typeface="Calibri"/>
                <a:ea typeface="Calibri"/>
                <a:cs typeface="Calibri"/>
                <a:sym typeface="Calibri"/>
              </a:rPr>
              <a:t>Tools sin findings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2F528F"/>
              </a:buClr>
              <a:buSzPts val="1105"/>
              <a:buFont typeface="Arial"/>
              <a:buChar char="▪"/>
            </a:pPr>
            <a:r>
              <a:rPr b="0" i="0"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nuclei/nikto/gobuster corrían sin persistir hallazgos.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F528F"/>
              </a:buClr>
              <a:buSzPts val="1105"/>
              <a:buFont typeface="Arial"/>
              <a:buChar char="▪"/>
            </a:pPr>
            <a:r>
              <a:rPr b="0" i="0"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Causas: templates, deps Perl, códigos ANSI, timeouts → fixes + 44 tests.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267" name="Google Shape;26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136188" y="330000"/>
            <a:ext cx="820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“ETH-MAS”</a:t>
            </a:r>
            <a:endParaRPr/>
          </a:p>
        </p:txBody>
      </p:sp>
      <p:cxnSp>
        <p:nvCxnSpPr>
          <p:cNvPr id="269" name="Google Shape;269;p23"/>
          <p:cNvCxnSpPr/>
          <p:nvPr/>
        </p:nvCxnSpPr>
        <p:spPr>
          <a:xfrm>
            <a:off x="0" y="758027"/>
            <a:ext cx="4085700" cy="600"/>
          </a:xfrm>
          <a:prstGeom prst="bentConnector3">
            <a:avLst>
              <a:gd fmla="val 50000" name="adj1"/>
            </a:avLst>
          </a:prstGeom>
          <a:noFill/>
          <a:ln cap="flat" cmpd="sng" w="1587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0" name="Google Shape;270;p23"/>
          <p:cNvSpPr txBox="1"/>
          <p:nvPr/>
        </p:nvSpPr>
        <p:spPr>
          <a:xfrm>
            <a:off x="1" y="1000000"/>
            <a:ext cx="12191999" cy="8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CONCLUSIONES Y TRABAJO FUTURO</a:t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700000" y="2150000"/>
            <a:ext cx="5096000" cy="3550000"/>
          </a:xfrm>
          <a:prstGeom prst="roundRect">
            <a:avLst>
              <a:gd fmla="val 6000" name="adj"/>
            </a:avLst>
          </a:prstGeom>
          <a:solidFill>
            <a:srgbClr val="ECF1FB"/>
          </a:solidFill>
          <a:ln cap="flat" cmpd="sng" w="19050">
            <a:solidFill>
              <a:srgbClr val="4472C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900"/>
              <a:buFont typeface="Calibri"/>
              <a:buNone/>
            </a:pPr>
            <a:r>
              <a:rPr b="1" i="0" lang="en-US" sz="19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1" i="0" sz="1900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4472C4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Pipeline E2E real (Recon → Scan → Analysis → Reporter) validado sobre el laboratorio.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Agentes con agencia amplia + guardarraíles de scope y HITL en código.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Evidencia reproducible: #26 (38 findings), #27 (12 findings), 179 tests, MITRE estable.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4472C4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Se cumplen los objetivos del Capstone.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6396000" y="2150000"/>
            <a:ext cx="5096000" cy="3550000"/>
          </a:xfrm>
          <a:prstGeom prst="roundRect">
            <a:avLst>
              <a:gd fmla="val 6000" name="adj"/>
            </a:avLst>
          </a:prstGeom>
          <a:solidFill>
            <a:srgbClr val="ECF5EC"/>
          </a:solidFill>
          <a:ln cap="flat" cmpd="sng" w="19050">
            <a:solidFill>
              <a:srgbClr val="2E7D3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101600" lIns="152400" spcFirstLastPara="1" rIns="1524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900"/>
              <a:buFont typeface="Calibri"/>
              <a:buNone/>
            </a:pPr>
            <a:r>
              <a:rPr b="1" i="0" lang="en-US" sz="19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Trabajo futuro</a:t>
            </a:r>
            <a:endParaRPr b="1" i="0" sz="1900">
              <a:solidFill>
                <a:srgbClr val="2E7D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2E7D32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Desplegar la Variante A (GCP + on-prem job-pull).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Ampliar herramientas (p. ej. Shodan post-Capstone).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Reducir el tiempo de ejecución E2E.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Más cobertura de tests sobre los agentes LLM.</a:t>
            </a:r>
            <a:endParaRPr/>
          </a:p>
          <a:p>
            <a:pPr indent="-182880" lvl="0" marL="18288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E7D32"/>
              </a:buClr>
              <a:buSzPts val="1190"/>
              <a:buFont typeface="Arial"/>
              <a:buChar char="▪"/>
            </a:pPr>
            <a:r>
              <a:rPr b="0" i="0" lang="en-US" sz="14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Endurecer el anti falsos positivos.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_logo.jpeg" id="277" name="Google Shape;2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0" y="2532024"/>
            <a:ext cx="121920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3746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2E3746"/>
                </a:solidFill>
                <a:latin typeface="Calibri"/>
                <a:ea typeface="Calibri"/>
                <a:cs typeface="Calibri"/>
                <a:sym typeface="Calibri"/>
              </a:rPr>
              <a:t>Ahora iniciamos con la demostracion en vivo.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4472C4"/>
              </a:buClr>
              <a:buSzPts val="2000"/>
              <a:buFont typeface="Calibri"/>
              <a:buNone/>
            </a:pPr>
            <a:r>
              <a:rPr b="0" i="0" lang="en-US" sz="20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Gracias.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0" y="4250000"/>
            <a:ext cx="12191999" cy="555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67171"/>
              </a:buClr>
              <a:buSzPts val="1400"/>
              <a:buFont typeface="Calibri"/>
              <a:buNone/>
            </a:pPr>
            <a:r>
              <a:rPr b="0" i="0" lang="en-US" sz="1400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rPr>
              <a:t>Proyecto ETH-MAS · github.com/rodrigosantibanez1/CapstoneCode</a:t>
            </a:r>
            <a:endParaRPr b="0" i="0" sz="1400">
              <a:solidFill>
                <a:srgbClr val="76717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Rodrigo Santibáñez · Yerson Molina · David Garrido — PTY4614 · DUOC UC ·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